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26280"/>
            <a:ext cx="12191695" cy="914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617720"/>
            <a:ext cx="12191695" cy="2240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2A9D8F"/>
                </a:solidFill>
                <a:latin typeface="Calibri"/>
              </a:rPr>
              <a:t>SUMMER DISCOVERY  • 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554480"/>
            <a:ext cx="1069848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5200" b="1" i="0">
                <a:solidFill>
                  <a:srgbClr val="FFFFFF"/>
                </a:solidFill>
                <a:latin typeface="Calibri"/>
              </a:rPr>
              <a:t>Camp Health &amp; Safety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5200" b="1" i="0">
                <a:solidFill>
                  <a:srgbClr val="FFFFFF"/>
                </a:solidFill>
                <a:latin typeface="Calibri"/>
              </a:rPr>
              <a:t>Counselor 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5760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 i="1">
                <a:solidFill>
                  <a:srgbClr val="CBE3DF"/>
                </a:solidFill>
                <a:latin typeface="Calibri"/>
              </a:rPr>
              <a:t>Everything you need to keep our campers safe — and stay calm doing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983480"/>
            <a:ext cx="10058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1F3A5F"/>
                </a:solidFill>
                <a:latin typeface="Calibri"/>
              </a:rPr>
              <a:t>Presented by the Camp Health Office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5A636E"/>
                </a:solidFill>
                <a:latin typeface="Calibri"/>
              </a:rPr>
              <a:t>Based on the Summer 2026 Staff Handbook, Section 9: Health, Safety &amp; Wellness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A9D8F"/>
                </a:solidFill>
                <a:latin typeface="Calibri"/>
              </a:rPr>
              <a:t>Your School Nurse  •  When in doubt, call. Always.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CBE3DF"/>
                </a:solidFill>
                <a:latin typeface="Calibri"/>
              </a:rPr>
              <a:t>WELCOME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First Job? First Aid? You've Got This.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1600"/>
              </a:spcAft>
              <a:buClr>
                <a:srgbClr val="2A9D8F"/>
              </a:buClr>
              <a:buChar char="▸"/>
            </a:pPr>
            <a:r>
              <a:rPr sz="1900" b="0">
                <a:solidFill>
                  <a:srgbClr val="333A42"/>
                </a:solidFill>
                <a:latin typeface="Calibri"/>
              </a:rPr>
              <a:t>You are the first set of eyes on every camper, every day.</a:t>
            </a:r>
          </a:p>
          <a:p>
            <a:pPr algn="l">
              <a:lnSpc>
                <a:spcPct val="100000"/>
              </a:lnSpc>
              <a:spcAft>
                <a:spcPts val="1600"/>
              </a:spcAft>
              <a:buClr>
                <a:srgbClr val="2A9D8F"/>
              </a:buClr>
              <a:buChar char="▸"/>
            </a:pPr>
            <a:r>
              <a:rPr sz="1900" b="0">
                <a:solidFill>
                  <a:srgbClr val="333A42"/>
                </a:solidFill>
                <a:latin typeface="Calibri"/>
              </a:rPr>
              <a:t>Most of what you'll handle is small: scrapes, sniffles, homesickness.</a:t>
            </a:r>
          </a:p>
          <a:p>
            <a:pPr algn="l">
              <a:lnSpc>
                <a:spcPct val="100000"/>
              </a:lnSpc>
              <a:spcAft>
                <a:spcPts val="1600"/>
              </a:spcAft>
              <a:buClr>
                <a:srgbClr val="2A9D8F"/>
              </a:buClr>
              <a:buChar char="▸"/>
            </a:pPr>
            <a:r>
              <a:rPr sz="1900" b="0">
                <a:solidFill>
                  <a:srgbClr val="333A42"/>
                </a:solidFill>
                <a:latin typeface="Calibri"/>
              </a:rPr>
              <a:t>A few things are serious. We'll make sure you know the difference.</a:t>
            </a:r>
          </a:p>
          <a:p>
            <a:pPr algn="l">
              <a:lnSpc>
                <a:spcPct val="100000"/>
              </a:lnSpc>
              <a:spcAft>
                <a:spcPts val="1600"/>
              </a:spcAft>
              <a:buClr>
                <a:srgbClr val="2A9D8F"/>
              </a:buClr>
              <a:buChar char="▸"/>
            </a:pPr>
            <a:r>
              <a:rPr sz="1900" b="0">
                <a:solidFill>
                  <a:srgbClr val="333A42"/>
                </a:solidFill>
                <a:latin typeface="Calibri"/>
              </a:rPr>
              <a:t>Golden rule: you are never expected to handle an emergency alone.</a:t>
            </a:r>
          </a:p>
          <a:p>
            <a:pPr algn="l">
              <a:lnSpc>
                <a:spcPct val="100000"/>
              </a:lnSpc>
              <a:spcAft>
                <a:spcPts val="1600"/>
              </a:spcAft>
              <a:buClr>
                <a:srgbClr val="2A9D8F"/>
              </a:buClr>
              <a:buChar char="▸"/>
            </a:pPr>
            <a:r>
              <a:rPr sz="1900" b="0">
                <a:solidFill>
                  <a:srgbClr val="333A42"/>
                </a:solidFill>
                <a:latin typeface="Calibri"/>
              </a:rPr>
              <a:t>When something feels off, you call the Health Office. No bravery points for guessing.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6640" y="1691640"/>
            <a:ext cx="4206240" cy="2926080"/>
          </a:xfrm>
          <a:prstGeom prst="rect">
            <a:avLst/>
          </a:prstGeom>
          <a:solidFill>
            <a:srgbClr val="EEF2F6"/>
          </a:solidFill>
          <a:ln w="19050">
            <a:solidFill>
              <a:srgbClr val="B8C4D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400">
                <a:solidFill>
                  <a:srgbClr val="2A9D8F"/>
                </a:solidFill>
                <a:latin typeface="Calibri"/>
              </a:rPr>
              <a:t>📷</a:t>
            </a:r>
          </a:p>
          <a:p>
            <a:pPr algn="ctr"/>
            <a:r>
              <a:rPr sz="1500" b="1">
                <a:solidFill>
                  <a:srgbClr val="1F3A5F"/>
                </a:solidFill>
                <a:latin typeface="Calibri"/>
              </a:rPr>
              <a:t>INSERT PHOTO</a:t>
            </a:r>
          </a:p>
          <a:p>
            <a:pPr algn="ctr"/>
            <a:r>
              <a:rPr sz="1100" i="1">
                <a:solidFill>
                  <a:srgbClr val="5A636E"/>
                </a:solidFill>
                <a:latin typeface="Calibri"/>
              </a:rPr>
              <a:t>Camp staff / smiling counselors (optional)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4846320"/>
            <a:ext cx="4206240" cy="548640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Today's promise: keep it simple, keep it safe.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6E"/>
                </a:solidFill>
                <a:latin typeface="Calibri"/>
              </a:rPr>
              <a:t>Summer 2026 Camp Health &amp; Safety  •  Counselor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6E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CBE3DF"/>
                </a:solidFill>
                <a:latin typeface="Calibri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What We'll Cover 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1500"/>
              </a:spcAft>
              <a:buClr>
                <a:srgbClr val="2A9D8F"/>
              </a:buClr>
              <a:buChar char="▸"/>
            </a:pPr>
            <a:r>
              <a:rPr sz="1900" b="0">
                <a:solidFill>
                  <a:srgbClr val="333A42"/>
                </a:solidFill>
                <a:latin typeface="Calibri"/>
              </a:rPr>
              <a:t>Your medical responsibilities</a:t>
            </a:r>
          </a:p>
          <a:p>
            <a:pPr algn="l">
              <a:lnSpc>
                <a:spcPct val="100000"/>
              </a:lnSpc>
              <a:spcAft>
                <a:spcPts val="1500"/>
              </a:spcAft>
              <a:buClr>
                <a:srgbClr val="2A9D8F"/>
              </a:buClr>
              <a:buChar char="▸"/>
            </a:pPr>
            <a:r>
              <a:rPr sz="1900" b="0">
                <a:solidFill>
                  <a:srgbClr val="333A42"/>
                </a:solidFill>
                <a:latin typeface="Calibri"/>
              </a:rPr>
              <a:t>Student illness &amp; reporting</a:t>
            </a:r>
          </a:p>
          <a:p>
            <a:pPr algn="l">
              <a:lnSpc>
                <a:spcPct val="100000"/>
              </a:lnSpc>
              <a:spcAft>
                <a:spcPts val="1500"/>
              </a:spcAft>
              <a:buClr>
                <a:srgbClr val="2A9D8F"/>
              </a:buClr>
              <a:buChar char="▸"/>
            </a:pPr>
            <a:r>
              <a:rPr sz="1900" b="0">
                <a:solidFill>
                  <a:srgbClr val="333A42"/>
                </a:solidFill>
                <a:latin typeface="Calibri"/>
              </a:rPr>
              <a:t>Minor first aid &amp; the first aid kit</a:t>
            </a:r>
          </a:p>
          <a:p>
            <a:pPr algn="l">
              <a:lnSpc>
                <a:spcPct val="100000"/>
              </a:lnSpc>
              <a:spcAft>
                <a:spcPts val="1500"/>
              </a:spcAft>
              <a:buClr>
                <a:srgbClr val="2A9D8F"/>
              </a:buClr>
              <a:buChar char="▸"/>
            </a:pPr>
            <a:r>
              <a:rPr sz="1900" b="0">
                <a:solidFill>
                  <a:srgbClr val="333A42"/>
                </a:solidFill>
                <a:latin typeface="Calibri"/>
              </a:rPr>
              <a:t>Basic first aid skills</a:t>
            </a:r>
          </a:p>
          <a:p>
            <a:pPr algn="l">
              <a:lnSpc>
                <a:spcPct val="100000"/>
              </a:lnSpc>
              <a:spcAft>
                <a:spcPts val="1500"/>
              </a:spcAft>
              <a:buClr>
                <a:srgbClr val="2A9D8F"/>
              </a:buClr>
              <a:buChar char="▸"/>
            </a:pPr>
            <a:r>
              <a:rPr sz="1900" b="0">
                <a:solidFill>
                  <a:srgbClr val="333A42"/>
                </a:solidFill>
                <a:latin typeface="Calibri"/>
              </a:rPr>
              <a:t>Hands-only CPR basics</a:t>
            </a:r>
          </a:p>
          <a:p>
            <a:pPr algn="l">
              <a:lnSpc>
                <a:spcPct val="100000"/>
              </a:lnSpc>
              <a:spcAft>
                <a:spcPts val="1500"/>
              </a:spcAft>
              <a:buClr>
                <a:srgbClr val="2A9D8F"/>
              </a:buClr>
              <a:buChar char="▸"/>
            </a:pPr>
            <a:r>
              <a:rPr sz="1900" b="0">
                <a:solidFill>
                  <a:srgbClr val="333A42"/>
                </a:solidFill>
                <a:latin typeface="Calibri"/>
              </a:rPr>
              <a:t>Doctor visits &amp; paperwork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73736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1500"/>
              </a:spcAft>
              <a:buClr>
                <a:srgbClr val="2A9D8F"/>
              </a:buClr>
              <a:buChar char="▸"/>
            </a:pPr>
            <a:r>
              <a:rPr sz="1900" b="0">
                <a:solidFill>
                  <a:srgbClr val="333A42"/>
                </a:solidFill>
                <a:latin typeface="Calibri"/>
              </a:rPr>
              <a:t>Medication management</a:t>
            </a:r>
          </a:p>
          <a:p>
            <a:pPr algn="l">
              <a:lnSpc>
                <a:spcPct val="100000"/>
              </a:lnSpc>
              <a:spcAft>
                <a:spcPts val="1500"/>
              </a:spcAft>
              <a:buClr>
                <a:srgbClr val="2A9D8F"/>
              </a:buClr>
              <a:buChar char="▸"/>
            </a:pPr>
            <a:r>
              <a:rPr sz="1900" b="0">
                <a:solidFill>
                  <a:srgbClr val="333A42"/>
                </a:solidFill>
                <a:latin typeface="Calibri"/>
              </a:rPr>
              <a:t>Mental health &amp; wellness</a:t>
            </a:r>
          </a:p>
          <a:p>
            <a:pPr algn="l">
              <a:lnSpc>
                <a:spcPct val="100000"/>
              </a:lnSpc>
              <a:spcAft>
                <a:spcPts val="1500"/>
              </a:spcAft>
              <a:buClr>
                <a:srgbClr val="2A9D8F"/>
              </a:buClr>
              <a:buChar char="▸"/>
            </a:pPr>
            <a:r>
              <a:rPr sz="1900" b="0">
                <a:solidFill>
                  <a:srgbClr val="333A42"/>
                </a:solidFill>
                <a:latin typeface="Calibri"/>
              </a:rPr>
              <a:t>Allergies &amp; anaphylaxis</a:t>
            </a:r>
          </a:p>
          <a:p>
            <a:pPr algn="l">
              <a:lnSpc>
                <a:spcPct val="100000"/>
              </a:lnSpc>
              <a:spcAft>
                <a:spcPts val="1500"/>
              </a:spcAft>
              <a:buClr>
                <a:srgbClr val="2A9D8F"/>
              </a:buClr>
              <a:buChar char="▸"/>
            </a:pPr>
            <a:r>
              <a:rPr sz="1900" b="0">
                <a:solidFill>
                  <a:srgbClr val="333A42"/>
                </a:solidFill>
                <a:latin typeface="Calibri"/>
              </a:rPr>
              <a:t>EpiPen, seizures &amp; inhalers</a:t>
            </a:r>
          </a:p>
          <a:p>
            <a:pPr algn="l">
              <a:lnSpc>
                <a:spcPct val="100000"/>
              </a:lnSpc>
              <a:spcAft>
                <a:spcPts val="1500"/>
              </a:spcAft>
              <a:buClr>
                <a:srgbClr val="2A9D8F"/>
              </a:buClr>
              <a:buChar char="▸"/>
            </a:pPr>
            <a:r>
              <a:rPr sz="1900" b="0">
                <a:solidFill>
                  <a:srgbClr val="333A42"/>
                </a:solidFill>
                <a:latin typeface="Calibri"/>
              </a:rPr>
              <a:t>Other medical emergencies</a:t>
            </a:r>
          </a:p>
          <a:p>
            <a:pPr algn="l">
              <a:lnSpc>
                <a:spcPct val="100000"/>
              </a:lnSpc>
              <a:spcAft>
                <a:spcPts val="1500"/>
              </a:spcAft>
              <a:buClr>
                <a:srgbClr val="2A9D8F"/>
              </a:buClr>
              <a:buChar char="▸"/>
            </a:pPr>
            <a:r>
              <a:rPr sz="1900" b="0">
                <a:solidFill>
                  <a:srgbClr val="333A42"/>
                </a:solidFill>
                <a:latin typeface="Calibri"/>
              </a:rPr>
              <a:t>Map &amp; route to the 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6E"/>
                </a:solidFill>
                <a:latin typeface="Calibri"/>
              </a:rPr>
              <a:t>Summer 2026 Camp Health &amp; Safety  •  Counselor Training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6E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CBE3DF"/>
                </a:solidFill>
                <a:latin typeface="Calibri"/>
              </a:rPr>
              <a:t>SECTION 9.1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Your Medical Responsibilities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1500"/>
              </a:spcAft>
              <a:buClr>
                <a:srgbClr val="2A9D8F"/>
              </a:buClr>
              <a:buChar char="▸"/>
            </a:pPr>
            <a:r>
              <a:rPr sz="1900" b="0">
                <a:solidFill>
                  <a:srgbClr val="333A42"/>
                </a:solidFill>
                <a:latin typeface="Calibri"/>
              </a:rPr>
              <a:t>Take all symptoms and complaints of illness seriously — even the dramatic ones.</a:t>
            </a:r>
          </a:p>
          <a:p>
            <a:pPr algn="l">
              <a:lnSpc>
                <a:spcPct val="100000"/>
              </a:lnSpc>
              <a:spcAft>
                <a:spcPts val="1500"/>
              </a:spcAft>
              <a:buClr>
                <a:srgbClr val="2A9D8F"/>
              </a:buClr>
              <a:buChar char="▸"/>
            </a:pPr>
            <a:r>
              <a:rPr sz="1900" b="0">
                <a:solidFill>
                  <a:srgbClr val="333A42"/>
                </a:solidFill>
                <a:latin typeface="Calibri"/>
              </a:rPr>
              <a:t>Notify the Site Nurse or Wellness Coordinator immediately when something's wrong.</a:t>
            </a:r>
          </a:p>
          <a:p>
            <a:pPr algn="l">
              <a:lnSpc>
                <a:spcPct val="100000"/>
              </a:lnSpc>
              <a:spcAft>
                <a:spcPts val="1500"/>
              </a:spcAft>
              <a:buClr>
                <a:srgbClr val="2A9D8F"/>
              </a:buClr>
              <a:buChar char="▸"/>
            </a:pPr>
            <a:r>
              <a:rPr sz="1900" b="0">
                <a:solidFill>
                  <a:srgbClr val="333A42"/>
                </a:solidFill>
                <a:latin typeface="Calibri"/>
              </a:rPr>
              <a:t>Document all medical incidents according to protocol (if it's not written down, it didn't happen).</a:t>
            </a:r>
          </a:p>
          <a:p>
            <a:pPr algn="l">
              <a:lnSpc>
                <a:spcPct val="100000"/>
              </a:lnSpc>
              <a:spcAft>
                <a:spcPts val="1500"/>
              </a:spcAft>
              <a:buClr>
                <a:srgbClr val="2A9D8F"/>
              </a:buClr>
              <a:buChar char="▸"/>
            </a:pPr>
            <a:r>
              <a:rPr sz="1900" b="0">
                <a:solidFill>
                  <a:srgbClr val="333A42"/>
                </a:solidFill>
                <a:latin typeface="Calibri"/>
              </a:rPr>
              <a:t>Maintain confidentiality of every student's medical information.</a:t>
            </a:r>
          </a:p>
          <a:p>
            <a:pPr algn="l">
              <a:lnSpc>
                <a:spcPct val="100000"/>
              </a:lnSpc>
              <a:spcAft>
                <a:spcPts val="1500"/>
              </a:spcAft>
              <a:buClr>
                <a:srgbClr val="2A9D8F"/>
              </a:buClr>
              <a:buChar char="▸"/>
            </a:pPr>
            <a:r>
              <a:rPr sz="1900" b="0">
                <a:solidFill>
                  <a:srgbClr val="333A42"/>
                </a:solidFill>
                <a:latin typeface="Calibri"/>
              </a:rPr>
              <a:t>Be aware of allergies and medical conditions of the students in your group.</a:t>
            </a:r>
          </a:p>
          <a:p>
            <a:pPr algn="l">
              <a:lnSpc>
                <a:spcPct val="100000"/>
              </a:lnSpc>
              <a:spcAft>
                <a:spcPts val="1500"/>
              </a:spcAft>
              <a:buClr>
                <a:srgbClr val="2A9D8F"/>
              </a:buClr>
              <a:buChar char="▸"/>
            </a:pPr>
            <a:r>
              <a:rPr sz="1900" b="0">
                <a:solidFill>
                  <a:srgbClr val="333A42"/>
                </a:solidFill>
                <a:latin typeface="Calibri"/>
              </a:rPr>
              <a:t>Know how to respond to common health emergencies — that's what today is for.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6E"/>
                </a:solidFill>
                <a:latin typeface="Calibri"/>
              </a:rPr>
              <a:t>Summer 2026 Camp Health &amp; Safety  •  Counselor Training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6E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CBE3DF"/>
                </a:solidFill>
                <a:latin typeface="Calibri"/>
              </a:rPr>
              <a:t>SECTION 9.1.1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When a Camper Feels Sick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6492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1300"/>
              </a:spcAft>
              <a:buClr>
                <a:srgbClr val="2A9D8F"/>
              </a:buClr>
              <a:buChar char="▸"/>
            </a:pPr>
            <a:r>
              <a:rPr sz="1800" b="0">
                <a:solidFill>
                  <a:srgbClr val="333A42"/>
                </a:solidFill>
                <a:latin typeface="Calibri"/>
              </a:rPr>
              <a:t>Believe them first, investigate second.</a:t>
            </a:r>
          </a:p>
          <a:p>
            <a:pPr algn="l">
              <a:lnSpc>
                <a:spcPct val="100000"/>
              </a:lnSpc>
              <a:spcAft>
                <a:spcPts val="1300"/>
              </a:spcAft>
              <a:buClr>
                <a:srgbClr val="2A9D8F"/>
              </a:buClr>
              <a:buChar char="▸"/>
            </a:pPr>
            <a:r>
              <a:rPr sz="1800" b="0">
                <a:solidFill>
                  <a:srgbClr val="333A42"/>
                </a:solidFill>
                <a:latin typeface="Calibri"/>
              </a:rPr>
              <a:t>Notify the Site Nurse / Wellness Coordinator right away.</a:t>
            </a:r>
          </a:p>
          <a:p>
            <a:pPr algn="l">
              <a:lnSpc>
                <a:spcPct val="100000"/>
              </a:lnSpc>
              <a:spcAft>
                <a:spcPts val="1300"/>
              </a:spcAft>
              <a:buClr>
                <a:srgbClr val="2A9D8F"/>
              </a:buClr>
              <a:buChar char="▸"/>
            </a:pPr>
            <a:r>
              <a:rPr sz="1800" b="0">
                <a:solidFill>
                  <a:srgbClr val="333A42"/>
                </a:solidFill>
                <a:latin typeface="Calibri"/>
              </a:rPr>
              <a:t>Document the incident per protocol.</a:t>
            </a:r>
          </a:p>
          <a:p>
            <a:pPr algn="l">
              <a:lnSpc>
                <a:spcPct val="100000"/>
              </a:lnSpc>
              <a:spcAft>
                <a:spcPts val="1300"/>
              </a:spcAft>
              <a:buClr>
                <a:srgbClr val="2A9D8F"/>
              </a:buClr>
              <a:buChar char="▸"/>
            </a:pPr>
            <a:r>
              <a:rPr sz="1800" b="0">
                <a:solidFill>
                  <a:srgbClr val="333A42"/>
                </a:solidFill>
                <a:latin typeface="Calibri"/>
              </a:rPr>
              <a:t>Keep their medical information private.</a:t>
            </a:r>
          </a:p>
          <a:p>
            <a:pPr algn="l">
              <a:lnSpc>
                <a:spcPct val="100000"/>
              </a:lnSpc>
              <a:spcAft>
                <a:spcPts val="1300"/>
              </a:spcAft>
              <a:buClr>
                <a:srgbClr val="2A9D8F"/>
              </a:buClr>
              <a:buChar char="▸"/>
            </a:pPr>
            <a:r>
              <a:rPr sz="1800" b="0">
                <a:solidFill>
                  <a:srgbClr val="333A42"/>
                </a:solidFill>
                <a:latin typeface="Calibri"/>
              </a:rPr>
              <a:t>Know your group's allergies and conditions before symptoms show up.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6640" y="1691640"/>
            <a:ext cx="4206240" cy="3291840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35240" y="1874519"/>
            <a:ext cx="3840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E63A46"/>
                </a:solidFill>
                <a:latin typeface="Calibri"/>
              </a:rPr>
              <a:t>WATCH FOR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331720"/>
            <a:ext cx="3840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900"/>
              </a:spcAft>
              <a:buClr>
                <a:srgbClr val="E63A46"/>
              </a:buClr>
              <a:buChar char="▸"/>
            </a:pPr>
            <a:r>
              <a:rPr sz="1500" b="0">
                <a:solidFill>
                  <a:srgbClr val="333A42"/>
                </a:solidFill>
                <a:latin typeface="Calibri"/>
              </a:rPr>
              <a:t>Fever, chills, or flushing</a:t>
            </a:r>
          </a:p>
          <a:p>
            <a:pPr algn="l">
              <a:lnSpc>
                <a:spcPct val="100000"/>
              </a:lnSpc>
              <a:spcAft>
                <a:spcPts val="900"/>
              </a:spcAft>
              <a:buClr>
                <a:srgbClr val="E63A46"/>
              </a:buClr>
              <a:buChar char="▸"/>
            </a:pPr>
            <a:r>
              <a:rPr sz="1500" b="0">
                <a:solidFill>
                  <a:srgbClr val="333A42"/>
                </a:solidFill>
                <a:latin typeface="Calibri"/>
              </a:rPr>
              <a:t>Vomiting or stomach pain</a:t>
            </a:r>
          </a:p>
          <a:p>
            <a:pPr algn="l">
              <a:lnSpc>
                <a:spcPct val="100000"/>
              </a:lnSpc>
              <a:spcAft>
                <a:spcPts val="900"/>
              </a:spcAft>
              <a:buClr>
                <a:srgbClr val="E63A46"/>
              </a:buClr>
              <a:buChar char="▸"/>
            </a:pPr>
            <a:r>
              <a:rPr sz="1500" b="0">
                <a:solidFill>
                  <a:srgbClr val="333A42"/>
                </a:solidFill>
                <a:latin typeface="Calibri"/>
              </a:rPr>
              <a:t>Rash you can't explain</a:t>
            </a:r>
          </a:p>
          <a:p>
            <a:pPr algn="l">
              <a:lnSpc>
                <a:spcPct val="100000"/>
              </a:lnSpc>
              <a:spcAft>
                <a:spcPts val="900"/>
              </a:spcAft>
              <a:buClr>
                <a:srgbClr val="E63A46"/>
              </a:buClr>
              <a:buChar char="▸"/>
            </a:pPr>
            <a:r>
              <a:rPr sz="1500" b="0">
                <a:solidFill>
                  <a:srgbClr val="333A42"/>
                </a:solidFill>
                <a:latin typeface="Calibri"/>
              </a:rPr>
              <a:t>Unusual sleepiness or confusion</a:t>
            </a:r>
          </a:p>
          <a:p>
            <a:pPr algn="l">
              <a:lnSpc>
                <a:spcPct val="100000"/>
              </a:lnSpc>
              <a:spcAft>
                <a:spcPts val="900"/>
              </a:spcAft>
              <a:buClr>
                <a:srgbClr val="E63A46"/>
              </a:buClr>
              <a:buChar char="▸"/>
            </a:pPr>
            <a:r>
              <a:rPr sz="1500" b="0">
                <a:solidFill>
                  <a:srgbClr val="333A42"/>
                </a:solidFill>
                <a:latin typeface="Calibri"/>
              </a:rPr>
              <a:t>"I just don't feel right"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6E"/>
                </a:solidFill>
                <a:latin typeface="Calibri"/>
              </a:rPr>
              <a:t>Summer 2026 Camp Health &amp; Safety  •  Counselor Training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6E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CBE3DF"/>
                </a:solidFill>
                <a:latin typeface="Calibri"/>
              </a:rPr>
              <a:t>SECTION 9.1.2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Minor First Aid &amp; the First Aid Kit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6492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1100"/>
              </a:spcAft>
              <a:buClr>
                <a:srgbClr val="2A9D8F"/>
              </a:buClr>
              <a:buChar char="▸"/>
            </a:pPr>
            <a:r>
              <a:rPr sz="1700" b="0">
                <a:solidFill>
                  <a:srgbClr val="333A42"/>
                </a:solidFill>
                <a:latin typeface="Calibri"/>
              </a:rPr>
              <a:t>Administer minor first aid for small scrapes, cuts, and bruises on arms and legs.</a:t>
            </a:r>
          </a:p>
          <a:p>
            <a:pPr algn="l">
              <a:lnSpc>
                <a:spcPct val="100000"/>
              </a:lnSpc>
              <a:spcAft>
                <a:spcPts val="1100"/>
              </a:spcAft>
              <a:buClr>
                <a:srgbClr val="2A9D8F"/>
              </a:buClr>
              <a:buChar char="▸"/>
            </a:pPr>
            <a:r>
              <a:rPr sz="1700" b="0">
                <a:solidFill>
                  <a:srgbClr val="333A42"/>
                </a:solidFill>
                <a:latin typeface="Calibri"/>
              </a:rPr>
              <a:t>Notify the Site Nurse / Health Center Coordinator when you use any supplies.</a:t>
            </a:r>
          </a:p>
          <a:p>
            <a:pPr algn="l">
              <a:lnSpc>
                <a:spcPct val="100000"/>
              </a:lnSpc>
              <a:spcAft>
                <a:spcPts val="1100"/>
              </a:spcAft>
              <a:buClr>
                <a:srgbClr val="2A9D8F"/>
              </a:buClr>
              <a:buChar char="▸"/>
            </a:pPr>
            <a:r>
              <a:rPr sz="1700" b="0">
                <a:solidFill>
                  <a:srgbClr val="333A42"/>
                </a:solidFill>
                <a:latin typeface="Calibri"/>
              </a:rPr>
              <a:t>Document minor first aid in the Medical Log.</a:t>
            </a:r>
          </a:p>
          <a:p>
            <a:pPr algn="l">
              <a:lnSpc>
                <a:spcPct val="100000"/>
              </a:lnSpc>
              <a:spcAft>
                <a:spcPts val="1100"/>
              </a:spcAft>
              <a:buClr>
                <a:srgbClr val="2A9D8F"/>
              </a:buClr>
              <a:buChar char="▸"/>
            </a:pPr>
            <a:r>
              <a:rPr sz="1700" b="0">
                <a:solidFill>
                  <a:srgbClr val="333A42"/>
                </a:solidFill>
                <a:latin typeface="Calibri"/>
              </a:rPr>
              <a:t>Complete an Incident Report for any accident requiring first aid.</a:t>
            </a:r>
          </a:p>
          <a:p>
            <a:pPr algn="l">
              <a:lnSpc>
                <a:spcPct val="100000"/>
              </a:lnSpc>
              <a:spcAft>
                <a:spcPts val="1100"/>
              </a:spcAft>
              <a:buClr>
                <a:srgbClr val="2A9D8F"/>
              </a:buClr>
              <a:buChar char="▸"/>
            </a:pPr>
            <a:r>
              <a:rPr sz="1700" b="0">
                <a:solidFill>
                  <a:srgbClr val="333A42"/>
                </a:solidFill>
                <a:latin typeface="Calibri"/>
              </a:rPr>
              <a:t>Wear protective gloves whenever blood or bodily fluids are present.</a:t>
            </a:r>
          </a:p>
          <a:p>
            <a:pPr algn="l">
              <a:lnSpc>
                <a:spcPct val="100000"/>
              </a:lnSpc>
              <a:spcAft>
                <a:spcPts val="1100"/>
              </a:spcAft>
              <a:buClr>
                <a:srgbClr val="2A9D8F"/>
              </a:buClr>
              <a:buChar char="▸"/>
            </a:pPr>
            <a:r>
              <a:rPr sz="1700" b="0">
                <a:solidFill>
                  <a:srgbClr val="333A42"/>
                </a:solidFill>
                <a:latin typeface="Calibri"/>
              </a:rPr>
              <a:t>Dispose of medical waste properly.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6640" y="1691640"/>
            <a:ext cx="4206240" cy="3108960"/>
          </a:xfrm>
          <a:prstGeom prst="rect">
            <a:avLst/>
          </a:prstGeom>
          <a:solidFill>
            <a:srgbClr val="EEF2F6"/>
          </a:solidFill>
          <a:ln w="19050">
            <a:solidFill>
              <a:srgbClr val="B8C4D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400">
                <a:solidFill>
                  <a:srgbClr val="2A9D8F"/>
                </a:solidFill>
                <a:latin typeface="Calibri"/>
              </a:rPr>
              <a:t>📷</a:t>
            </a:r>
          </a:p>
          <a:p>
            <a:pPr algn="ctr"/>
            <a:r>
              <a:rPr sz="1500" b="1">
                <a:solidFill>
                  <a:srgbClr val="1F3A5F"/>
                </a:solidFill>
                <a:latin typeface="Calibri"/>
              </a:rPr>
              <a:t>INSERT PHOTO</a:t>
            </a:r>
          </a:p>
          <a:p>
            <a:pPr algn="ctr"/>
            <a:r>
              <a:rPr sz="1100" i="1">
                <a:solidFill>
                  <a:srgbClr val="5A636E"/>
                </a:solidFill>
                <a:latin typeface="Calibri"/>
              </a:rPr>
              <a:t>Contents of the camp first aid kit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4983480"/>
            <a:ext cx="4206240" cy="548640"/>
          </a:xfrm>
          <a:prstGeom prst="round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Gloves on BEFORE you play hero.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6E"/>
                </a:solidFill>
                <a:latin typeface="Calibri"/>
              </a:rPr>
              <a:t>Summer 2026 Camp Health &amp; Safety  •  Counselor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6E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CBE3DF"/>
                </a:solidFill>
                <a:latin typeface="Calibri"/>
              </a:rPr>
              <a:t>SKILLS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Basic First Aid: Scrapes, Cuts &amp; Abrasions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6492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1100"/>
              </a:spcAft>
              <a:buClr>
                <a:srgbClr val="2A9D8F"/>
              </a:buClr>
              <a:buChar char="▸"/>
            </a:pPr>
            <a:r>
              <a:rPr sz="1700" b="0">
                <a:solidFill>
                  <a:srgbClr val="333A42"/>
                </a:solidFill>
                <a:latin typeface="Calibri"/>
              </a:rPr>
              <a:t>Gloves on, calm voice on.</a:t>
            </a:r>
          </a:p>
          <a:p>
            <a:pPr algn="l">
              <a:lnSpc>
                <a:spcPct val="100000"/>
              </a:lnSpc>
              <a:spcAft>
                <a:spcPts val="1100"/>
              </a:spcAft>
              <a:buClr>
                <a:srgbClr val="2A9D8F"/>
              </a:buClr>
              <a:buChar char="▸"/>
            </a:pPr>
            <a:r>
              <a:rPr sz="1700" b="0">
                <a:solidFill>
                  <a:srgbClr val="333A42"/>
                </a:solidFill>
                <a:latin typeface="Calibri"/>
              </a:rPr>
              <a:t>Rinse the wound with clean water to flush out dirt and debris.</a:t>
            </a:r>
          </a:p>
          <a:p>
            <a:pPr algn="l">
              <a:lnSpc>
                <a:spcPct val="100000"/>
              </a:lnSpc>
              <a:spcAft>
                <a:spcPts val="1100"/>
              </a:spcAft>
              <a:buClr>
                <a:srgbClr val="2A9D8F"/>
              </a:buClr>
              <a:buChar char="▸"/>
            </a:pPr>
            <a:r>
              <a:rPr sz="1700" b="0">
                <a:solidFill>
                  <a:srgbClr val="333A42"/>
                </a:solidFill>
                <a:latin typeface="Calibri"/>
              </a:rPr>
              <a:t>Apply gentle pressure with clean gauze to stop bleeding.</a:t>
            </a:r>
          </a:p>
          <a:p>
            <a:pPr algn="l">
              <a:lnSpc>
                <a:spcPct val="100000"/>
              </a:lnSpc>
              <a:spcAft>
                <a:spcPts val="1100"/>
              </a:spcAft>
              <a:buClr>
                <a:srgbClr val="2A9D8F"/>
              </a:buClr>
              <a:buChar char="▸"/>
            </a:pPr>
            <a:r>
              <a:rPr sz="1700" b="0">
                <a:solidFill>
                  <a:srgbClr val="333A42"/>
                </a:solidFill>
                <a:latin typeface="Calibri"/>
              </a:rPr>
              <a:t>Pat dry, apply antibiotic ointment, and cover with a bandage.</a:t>
            </a:r>
          </a:p>
          <a:p>
            <a:pPr algn="l">
              <a:lnSpc>
                <a:spcPct val="100000"/>
              </a:lnSpc>
              <a:spcAft>
                <a:spcPts val="1100"/>
              </a:spcAft>
              <a:buClr>
                <a:srgbClr val="2A9D8F"/>
              </a:buClr>
              <a:buChar char="▸"/>
            </a:pPr>
            <a:r>
              <a:rPr sz="1700" b="0">
                <a:solidFill>
                  <a:srgbClr val="333A42"/>
                </a:solidFill>
                <a:latin typeface="Calibri"/>
              </a:rPr>
              <a:t>Tell the camper they were very brave (it helps).</a:t>
            </a:r>
          </a:p>
          <a:p>
            <a:pPr algn="l">
              <a:lnSpc>
                <a:spcPct val="100000"/>
              </a:lnSpc>
              <a:spcAft>
                <a:spcPts val="1100"/>
              </a:spcAft>
              <a:buClr>
                <a:srgbClr val="2A9D8F"/>
              </a:buClr>
              <a:buChar char="▸"/>
            </a:pPr>
            <a:r>
              <a:rPr sz="1700" b="0">
                <a:solidFill>
                  <a:srgbClr val="333A42"/>
                </a:solidFill>
                <a:latin typeface="Calibri"/>
              </a:rPr>
              <a:t>Log it, and flag deep, gaping, or won't-stop-bleeding wounds to the Nurse.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6640" y="1691640"/>
            <a:ext cx="4206240" cy="3291840"/>
          </a:xfrm>
          <a:prstGeom prst="rect">
            <a:avLst/>
          </a:prstGeom>
          <a:solidFill>
            <a:srgbClr val="EEF2F6"/>
          </a:solidFill>
          <a:ln w="19050">
            <a:solidFill>
              <a:srgbClr val="B8C4D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400">
                <a:solidFill>
                  <a:srgbClr val="2A9D8F"/>
                </a:solidFill>
                <a:latin typeface="Calibri"/>
              </a:rPr>
              <a:t>📷</a:t>
            </a:r>
          </a:p>
          <a:p>
            <a:pPr algn="ctr"/>
            <a:r>
              <a:rPr sz="1500" b="1">
                <a:solidFill>
                  <a:srgbClr val="1F3A5F"/>
                </a:solidFill>
                <a:latin typeface="Calibri"/>
              </a:rPr>
              <a:t>INSERT PHOTO</a:t>
            </a:r>
          </a:p>
          <a:p>
            <a:pPr algn="ctr"/>
            <a:r>
              <a:rPr sz="1100" i="1">
                <a:solidFill>
                  <a:srgbClr val="5A636E"/>
                </a:solidFill>
                <a:latin typeface="Calibri"/>
              </a:rPr>
              <a:t>Example of an abrasion / scrape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5120640"/>
            <a:ext cx="4206240" cy="548640"/>
          </a:xfrm>
          <a:prstGeom prst="roundRect">
            <a:avLst/>
          </a:prstGeom>
          <a:solidFill>
            <a:srgbClr val="E63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When in doubt, escalate — don't improvise.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6E"/>
                </a:solidFill>
                <a:latin typeface="Calibri"/>
              </a:rPr>
              <a:t>Summer 2026 Camp Health &amp; Safety  •  Counselor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6E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E63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CBE3DF"/>
                </a:solidFill>
                <a:latin typeface="Calibri"/>
              </a:rPr>
              <a:t>SKILLS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Basic CPR: Hands-Only Lifesaving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6035040" cy="502920"/>
          </a:xfrm>
          <a:prstGeom prst="roundRect">
            <a:avLst/>
          </a:prstGeom>
          <a:solidFill>
            <a:srgbClr val="E63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Call 911 FIRST  •  Send someone for the AED &amp; Nurse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6492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1100"/>
              </a:spcAft>
              <a:buClr>
                <a:srgbClr val="2A9D8F"/>
              </a:buClr>
              <a:buChar char="▸"/>
            </a:pPr>
            <a:r>
              <a:rPr sz="1700" b="0">
                <a:solidFill>
                  <a:srgbClr val="333A42"/>
                </a:solidFill>
                <a:latin typeface="Calibri"/>
              </a:rPr>
              <a:t>Check responsiveness — tap and shout. No response, not breathing? Act.</a:t>
            </a:r>
          </a:p>
          <a:p>
            <a:pPr algn="l">
              <a:lnSpc>
                <a:spcPct val="100000"/>
              </a:lnSpc>
              <a:spcAft>
                <a:spcPts val="1100"/>
              </a:spcAft>
              <a:buClr>
                <a:srgbClr val="2A9D8F"/>
              </a:buClr>
              <a:buChar char="▸"/>
            </a:pPr>
            <a:r>
              <a:rPr sz="1700" b="0">
                <a:solidFill>
                  <a:srgbClr val="333A42"/>
                </a:solidFill>
                <a:latin typeface="Calibri"/>
              </a:rPr>
              <a:t>Call 911 (or point at someone: "YOU, call 911").</a:t>
            </a:r>
          </a:p>
          <a:p>
            <a:pPr algn="l">
              <a:lnSpc>
                <a:spcPct val="100000"/>
              </a:lnSpc>
              <a:spcAft>
                <a:spcPts val="1100"/>
              </a:spcAft>
              <a:buClr>
                <a:srgbClr val="2A9D8F"/>
              </a:buClr>
              <a:buChar char="▸"/>
            </a:pPr>
            <a:r>
              <a:rPr sz="1700" b="0">
                <a:solidFill>
                  <a:srgbClr val="333A42"/>
                </a:solidFill>
                <a:latin typeface="Calibri"/>
              </a:rPr>
              <a:t>Push hard and fast in the center of the chest — about 2 inches deep.</a:t>
            </a:r>
          </a:p>
          <a:p>
            <a:pPr algn="l">
              <a:lnSpc>
                <a:spcPct val="100000"/>
              </a:lnSpc>
              <a:spcAft>
                <a:spcPts val="1100"/>
              </a:spcAft>
              <a:buClr>
                <a:srgbClr val="2A9D8F"/>
              </a:buClr>
              <a:buChar char="▸"/>
            </a:pPr>
            <a:r>
              <a:rPr sz="1700" b="0">
                <a:solidFill>
                  <a:srgbClr val="333A42"/>
                </a:solidFill>
                <a:latin typeface="Calibri"/>
              </a:rPr>
              <a:t>Aim for 100–120 pushes a minute (beat of "Stayin' Alive").</a:t>
            </a:r>
          </a:p>
          <a:p>
            <a:pPr algn="l">
              <a:lnSpc>
                <a:spcPct val="100000"/>
              </a:lnSpc>
              <a:spcAft>
                <a:spcPts val="1100"/>
              </a:spcAft>
              <a:buClr>
                <a:srgbClr val="2A9D8F"/>
              </a:buClr>
              <a:buChar char="▸"/>
            </a:pPr>
            <a:r>
              <a:rPr sz="1700" b="0">
                <a:solidFill>
                  <a:srgbClr val="333A42"/>
                </a:solidFill>
                <a:latin typeface="Calibri"/>
              </a:rPr>
              <a:t>Don't stop until help, an AED, or the person takes over.</a:t>
            </a:r>
          </a:p>
          <a:p>
            <a:pPr algn="l">
              <a:lnSpc>
                <a:spcPct val="100000"/>
              </a:lnSpc>
              <a:spcAft>
                <a:spcPts val="1100"/>
              </a:spcAft>
              <a:buClr>
                <a:srgbClr val="2A9D8F"/>
              </a:buClr>
              <a:buChar char="▸"/>
            </a:pPr>
            <a:r>
              <a:rPr sz="1700" b="0">
                <a:solidFill>
                  <a:srgbClr val="333A42"/>
                </a:solidFill>
                <a:latin typeface="Calibri"/>
              </a:rPr>
              <a:t>Use the AED as soon as it arrives — it talks you through it.</a:t>
            </a:r>
          </a:p>
        </p:txBody>
      </p:sp>
      <p:sp>
        <p:nvSpPr>
          <p:cNvPr id="8" name="Rectangle 7"/>
          <p:cNvSpPr/>
          <p:nvPr/>
        </p:nvSpPr>
        <p:spPr>
          <a:xfrm>
            <a:off x="7406640" y="1691640"/>
            <a:ext cx="4206240" cy="3383280"/>
          </a:xfrm>
          <a:prstGeom prst="rect">
            <a:avLst/>
          </a:prstGeom>
          <a:solidFill>
            <a:srgbClr val="EEF2F6"/>
          </a:solidFill>
          <a:ln w="19050">
            <a:solidFill>
              <a:srgbClr val="B8C4D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400">
                <a:solidFill>
                  <a:srgbClr val="2A9D8F"/>
                </a:solidFill>
                <a:latin typeface="Calibri"/>
              </a:rPr>
              <a:t>📷</a:t>
            </a:r>
          </a:p>
          <a:p>
            <a:pPr algn="ctr"/>
            <a:r>
              <a:rPr sz="1500" b="1">
                <a:solidFill>
                  <a:srgbClr val="1F3A5F"/>
                </a:solidFill>
                <a:latin typeface="Calibri"/>
              </a:rPr>
              <a:t>INSERT PHOTO / DIAGRAM</a:t>
            </a:r>
          </a:p>
          <a:p>
            <a:pPr algn="ctr"/>
            <a:r>
              <a:rPr sz="1100" i="1">
                <a:solidFill>
                  <a:srgbClr val="5A636E"/>
                </a:solidFill>
                <a:latin typeface="Calibri"/>
              </a:rPr>
              <a:t>How to perform CPR (hand placement)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5212080"/>
            <a:ext cx="4206240" cy="54864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Formal CPR/AED certification is required.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6E"/>
                </a:solidFill>
                <a:latin typeface="Calibri"/>
              </a:rPr>
              <a:t>Summer 2026 Camp Health &amp; Safety  •  Counselor Training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6E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CBE3DF"/>
                </a:solidFill>
                <a:latin typeface="Calibri"/>
              </a:rPr>
              <a:t>SECTION 9.1.3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Doctor Visits &amp; Off-Site Appointments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5577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  <a:buClr>
                <a:srgbClr val="2A9D8F"/>
              </a:buClr>
              <a:buChar char="▸"/>
            </a:pPr>
            <a:r>
              <a:rPr sz="1550" b="0">
                <a:solidFill>
                  <a:srgbClr val="333A42"/>
                </a:solidFill>
                <a:latin typeface="Calibri"/>
              </a:rPr>
              <a:t>Staff must accompany students to all outside medical appointments.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  <a:buClr>
                <a:srgbClr val="2A9D8F"/>
              </a:buClr>
              <a:buChar char="▸"/>
            </a:pPr>
            <a:r>
              <a:rPr sz="1550" b="0">
                <a:solidFill>
                  <a:srgbClr val="333A42"/>
                </a:solidFill>
                <a:latin typeface="Calibri"/>
              </a:rPr>
              <a:t>Doctor duty rotates among all staff.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  <a:buClr>
                <a:srgbClr val="2A9D8F"/>
              </a:buClr>
              <a:buChar char="▸"/>
            </a:pPr>
            <a:r>
              <a:rPr sz="1550" b="0">
                <a:solidFill>
                  <a:srgbClr val="333A42"/>
                </a:solidFill>
                <a:latin typeface="Calibri"/>
              </a:rPr>
              <a:t>The Wellness RC is assigned a van each day.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  <a:buClr>
                <a:srgbClr val="2A9D8F"/>
              </a:buClr>
              <a:buChar char="▸"/>
            </a:pPr>
            <a:r>
              <a:rPr sz="1550" b="0">
                <a:solidFill>
                  <a:srgbClr val="333A42"/>
                </a:solidFill>
                <a:latin typeface="Calibri"/>
              </a:rPr>
              <a:t>Bring the student's Medical Form and SD Medical Report to every appointment.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  <a:buClr>
                <a:srgbClr val="2A9D8F"/>
              </a:buClr>
              <a:buChar char="▸"/>
            </a:pPr>
            <a:r>
              <a:rPr sz="1550" b="0">
                <a:solidFill>
                  <a:srgbClr val="333A42"/>
                </a:solidFill>
                <a:latin typeface="Calibri"/>
              </a:rPr>
              <a:t>A second staff member rides along if you're taking only one student.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  <a:buClr>
                <a:srgbClr val="2A9D8F"/>
              </a:buClr>
              <a:buChar char="▸"/>
            </a:pPr>
            <a:r>
              <a:rPr sz="1550" b="0">
                <a:solidFill>
                  <a:srgbClr val="333A42"/>
                </a:solidFill>
                <a:latin typeface="Calibri"/>
              </a:rPr>
              <a:t>Wait patiently with the student during exams and treatment.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5080" y="1600200"/>
            <a:ext cx="5577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  <a:buClr>
                <a:srgbClr val="2A9D8F"/>
              </a:buClr>
              <a:buChar char="▸"/>
            </a:pPr>
            <a:r>
              <a:rPr sz="1550" b="0">
                <a:solidFill>
                  <a:srgbClr val="333A42"/>
                </a:solidFill>
                <a:latin typeface="Calibri"/>
              </a:rPr>
              <a:t>Have the doctor / nurse speak directly with parents when possible.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  <a:buClr>
                <a:srgbClr val="2A9D8F"/>
              </a:buClr>
              <a:buChar char="▸"/>
            </a:pPr>
            <a:r>
              <a:rPr sz="1550" b="0">
                <a:solidFill>
                  <a:srgbClr val="333A42"/>
                </a:solidFill>
                <a:latin typeface="Calibri"/>
              </a:rPr>
              <a:t>Complete the SD Medical Report before leaving the office.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  <a:buClr>
                <a:srgbClr val="2A9D8F"/>
              </a:buClr>
              <a:buChar char="▸"/>
            </a:pPr>
            <a:r>
              <a:rPr sz="1550" b="0">
                <a:solidFill>
                  <a:srgbClr val="333A42"/>
                </a:solidFill>
                <a:latin typeface="Calibri"/>
              </a:rPr>
              <a:t>Get a written diagnosis and suggested treatment plan.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  <a:buClr>
                <a:srgbClr val="2A9D8F"/>
              </a:buClr>
              <a:buChar char="▸"/>
            </a:pPr>
            <a:r>
              <a:rPr sz="1550" b="0">
                <a:solidFill>
                  <a:srgbClr val="333A42"/>
                </a:solidFill>
                <a:latin typeface="Calibri"/>
              </a:rPr>
              <a:t>Return all paperwork to the Site Nurse / Health Center Coordinator.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  <a:buClr>
                <a:srgbClr val="2A9D8F"/>
              </a:buClr>
              <a:buChar char="▸"/>
            </a:pPr>
            <a:r>
              <a:rPr sz="1550" b="0">
                <a:solidFill>
                  <a:srgbClr val="333A42"/>
                </a:solidFill>
                <a:latin typeface="Calibri"/>
              </a:rPr>
              <a:t>Non-life-threatening? Inform the Director before calling parents.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6E"/>
                </a:solidFill>
                <a:latin typeface="Calibri"/>
              </a:rPr>
              <a:t>Summer 2026 Camp Health &amp; Safety  •  Counselor Training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6E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CBE3DF"/>
                </a:solidFill>
                <a:latin typeface="Calibri"/>
              </a:rPr>
              <a:t>SECTION 9.1.4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International Student Medical Visits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1600"/>
              </a:spcAft>
              <a:buClr>
                <a:srgbClr val="2A9D8F"/>
              </a:buClr>
              <a:buChar char="▸"/>
            </a:pPr>
            <a:r>
              <a:rPr sz="1900" b="0">
                <a:solidFill>
                  <a:srgbClr val="333A42"/>
                </a:solidFill>
                <a:latin typeface="Calibri"/>
              </a:rPr>
              <a:t>International students have an ID card attached to their Medical Form — keep them together.</a:t>
            </a:r>
          </a:p>
          <a:p>
            <a:pPr algn="l">
              <a:lnSpc>
                <a:spcPct val="100000"/>
              </a:lnSpc>
              <a:spcAft>
                <a:spcPts val="1600"/>
              </a:spcAft>
              <a:buClr>
                <a:srgbClr val="2A9D8F"/>
              </a:buClr>
              <a:buChar char="▸"/>
            </a:pPr>
            <a:r>
              <a:rPr sz="1900" b="0">
                <a:solidFill>
                  <a:srgbClr val="333A42"/>
                </a:solidFill>
                <a:latin typeface="Calibri"/>
              </a:rPr>
              <a:t>For in-network facilities, students pay only the deductible at point of service.</a:t>
            </a:r>
          </a:p>
          <a:p>
            <a:pPr algn="l">
              <a:lnSpc>
                <a:spcPct val="100000"/>
              </a:lnSpc>
              <a:spcAft>
                <a:spcPts val="1600"/>
              </a:spcAft>
              <a:buClr>
                <a:srgbClr val="2A9D8F"/>
              </a:buClr>
              <a:buChar char="▸"/>
            </a:pPr>
            <a:r>
              <a:rPr sz="1900" b="0">
                <a:solidFill>
                  <a:srgbClr val="333A42"/>
                </a:solidFill>
                <a:latin typeface="Calibri"/>
              </a:rPr>
              <a:t>For out-of-network facilities, students will be billed later.</a:t>
            </a:r>
          </a:p>
          <a:p>
            <a:pPr algn="l">
              <a:lnSpc>
                <a:spcPct val="100000"/>
              </a:lnSpc>
              <a:spcAft>
                <a:spcPts val="1600"/>
              </a:spcAft>
              <a:buClr>
                <a:srgbClr val="2A9D8F"/>
              </a:buClr>
              <a:buChar char="▸"/>
            </a:pPr>
            <a:r>
              <a:rPr sz="1900" b="0">
                <a:solidFill>
                  <a:srgbClr val="333A42"/>
                </a:solidFill>
                <a:latin typeface="Calibri"/>
              </a:rPr>
              <a:t>Return all payment receipts and medical paperwork to the Site Nurse.</a:t>
            </a:r>
          </a:p>
          <a:p>
            <a:pPr algn="l">
              <a:lnSpc>
                <a:spcPct val="100000"/>
              </a:lnSpc>
              <a:spcAft>
                <a:spcPts val="1600"/>
              </a:spcAft>
              <a:buClr>
                <a:srgbClr val="2A9D8F"/>
              </a:buClr>
              <a:buChar char="▸"/>
            </a:pPr>
            <a:r>
              <a:rPr sz="1900" b="0">
                <a:solidFill>
                  <a:srgbClr val="333A42"/>
                </a:solidFill>
                <a:latin typeface="Calibri"/>
              </a:rPr>
              <a:t>Always keep the medical vehicles fully fueled and ready to use.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120640"/>
            <a:ext cx="5669280" cy="548640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Receipts matter. Pockets are not a filing system.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6E"/>
                </a:solidFill>
                <a:latin typeface="Calibri"/>
              </a:rPr>
              <a:t>Summer 2026 Camp Health &amp; Safety  •  Counselor Training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6E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CBE3DF"/>
                </a:solidFill>
                <a:latin typeface="Calibri"/>
              </a:rPr>
              <a:t>SECTION 9.1.5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Medication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1400"/>
              </a:spcAft>
              <a:buClr>
                <a:srgbClr val="E63A46"/>
              </a:buClr>
              <a:buChar char="▸"/>
            </a:pPr>
            <a:r>
              <a:rPr sz="1800" b="0">
                <a:solidFill>
                  <a:srgbClr val="333A42"/>
                </a:solidFill>
                <a:latin typeface="Calibri"/>
              </a:rPr>
              <a:t>ALL prescription and over-the-counter meds are stored in the Summer Discovery Health Center.</a:t>
            </a:r>
          </a:p>
          <a:p>
            <a:pPr algn="l">
              <a:lnSpc>
                <a:spcPct val="100000"/>
              </a:lnSpc>
              <a:spcAft>
                <a:spcPts val="1400"/>
              </a:spcAft>
              <a:buClr>
                <a:srgbClr val="E63A46"/>
              </a:buClr>
              <a:buChar char="▸"/>
            </a:pPr>
            <a:r>
              <a:rPr sz="1800" b="0">
                <a:solidFill>
                  <a:srgbClr val="333A42"/>
                </a:solidFill>
                <a:latin typeface="Calibri"/>
              </a:rPr>
              <a:t>Counselors do NOT administer medications to students. Full stop.</a:t>
            </a:r>
          </a:p>
          <a:p>
            <a:pPr algn="l">
              <a:lnSpc>
                <a:spcPct val="100000"/>
              </a:lnSpc>
              <a:spcAft>
                <a:spcPts val="1400"/>
              </a:spcAft>
              <a:buClr>
                <a:srgbClr val="E63A46"/>
              </a:buClr>
              <a:buChar char="▸"/>
            </a:pPr>
            <a:r>
              <a:rPr sz="1800" b="0">
                <a:solidFill>
                  <a:srgbClr val="333A42"/>
                </a:solidFill>
                <a:latin typeface="Calibri"/>
              </a:rPr>
              <a:t>The Site Nurse is responsible for medication distribution and documentation.</a:t>
            </a:r>
          </a:p>
          <a:p>
            <a:pPr algn="l">
              <a:lnSpc>
                <a:spcPct val="100000"/>
              </a:lnSpc>
              <a:spcAft>
                <a:spcPts val="1400"/>
              </a:spcAft>
              <a:buClr>
                <a:srgbClr val="E63A46"/>
              </a:buClr>
              <a:buChar char="▸"/>
            </a:pPr>
            <a:r>
              <a:rPr sz="1800" b="0">
                <a:solidFill>
                  <a:srgbClr val="333A42"/>
                </a:solidFill>
                <a:latin typeface="Calibri"/>
              </a:rPr>
              <a:t>Report any concerns about medication compliance or misuse immediately.</a:t>
            </a:r>
          </a:p>
          <a:p>
            <a:pPr algn="l">
              <a:lnSpc>
                <a:spcPct val="100000"/>
              </a:lnSpc>
              <a:spcAft>
                <a:spcPts val="1400"/>
              </a:spcAft>
              <a:buClr>
                <a:srgbClr val="E63A46"/>
              </a:buClr>
              <a:buChar char="▸"/>
            </a:pPr>
            <a:r>
              <a:rPr sz="1800" b="0">
                <a:solidFill>
                  <a:srgbClr val="333A42"/>
                </a:solidFill>
                <a:latin typeface="Calibri"/>
              </a:rPr>
              <a:t>No nurse on campus? The Program Director gives specific instructions.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212080"/>
            <a:ext cx="6766560" cy="548640"/>
          </a:xfrm>
          <a:prstGeom prst="roundRect">
            <a:avLst/>
          </a:prstGeom>
          <a:solidFill>
            <a:srgbClr val="E63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Not even an Advil. The answer is "let's see the Nurse."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6E"/>
                </a:solidFill>
                <a:latin typeface="Calibri"/>
              </a:rPr>
              <a:t>Summer 2026 Camp Health &amp; Safety  •  Counselor Training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6E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CBE3DF"/>
                </a:solidFill>
                <a:latin typeface="Calibri"/>
              </a:rPr>
              <a:t>SECTION 9.1.6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Mental Health &amp; Wellness 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6583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1300"/>
              </a:spcAft>
              <a:buClr>
                <a:srgbClr val="2A9D8F"/>
              </a:buClr>
              <a:buChar char="▸"/>
            </a:pPr>
            <a:r>
              <a:rPr sz="1800" b="0">
                <a:solidFill>
                  <a:srgbClr val="333A42"/>
                </a:solidFill>
                <a:latin typeface="Calibri"/>
              </a:rPr>
              <a:t>Be alert to signs of mental health concerns in students.</a:t>
            </a:r>
          </a:p>
          <a:p>
            <a:pPr algn="l">
              <a:lnSpc>
                <a:spcPct val="100000"/>
              </a:lnSpc>
              <a:spcAft>
                <a:spcPts val="1300"/>
              </a:spcAft>
              <a:buClr>
                <a:srgbClr val="2A9D8F"/>
              </a:buClr>
              <a:buChar char="▸"/>
            </a:pPr>
            <a:r>
              <a:rPr sz="1800" b="0">
                <a:solidFill>
                  <a:srgbClr val="333A42"/>
                </a:solidFill>
                <a:latin typeface="Calibri"/>
              </a:rPr>
              <a:t>Report any concerning behaviors to the administration.</a:t>
            </a:r>
          </a:p>
          <a:p>
            <a:pPr algn="l">
              <a:lnSpc>
                <a:spcPct val="100000"/>
              </a:lnSpc>
              <a:spcAft>
                <a:spcPts val="1300"/>
              </a:spcAft>
              <a:buClr>
                <a:srgbClr val="2A9D8F"/>
              </a:buClr>
              <a:buChar char="▸"/>
            </a:pPr>
            <a:r>
              <a:rPr sz="1800" b="0">
                <a:solidFill>
                  <a:srgbClr val="333A42"/>
                </a:solidFill>
                <a:latin typeface="Calibri"/>
              </a:rPr>
              <a:t>Maintain appropriate confidentiality while keeping students safe.</a:t>
            </a:r>
          </a:p>
          <a:p>
            <a:pPr algn="l">
              <a:lnSpc>
                <a:spcPct val="100000"/>
              </a:lnSpc>
              <a:spcAft>
                <a:spcPts val="1300"/>
              </a:spcAft>
              <a:buClr>
                <a:srgbClr val="2A9D8F"/>
              </a:buClr>
              <a:buChar char="▸"/>
            </a:pPr>
            <a:r>
              <a:rPr sz="1800" b="0">
                <a:solidFill>
                  <a:srgbClr val="333A42"/>
                </a:solidFill>
                <a:latin typeface="Calibri"/>
              </a:rPr>
              <a:t>Support students facing homesickness, anxiety, or other emotional challenges.</a:t>
            </a:r>
          </a:p>
          <a:p>
            <a:pPr algn="l">
              <a:lnSpc>
                <a:spcPct val="100000"/>
              </a:lnSpc>
              <a:spcAft>
                <a:spcPts val="1300"/>
              </a:spcAft>
              <a:buClr>
                <a:srgbClr val="2A9D8F"/>
              </a:buClr>
              <a:buChar char="▸"/>
            </a:pPr>
            <a:r>
              <a:rPr sz="1800" b="0">
                <a:solidFill>
                  <a:srgbClr val="333A42"/>
                </a:solidFill>
                <a:latin typeface="Calibri"/>
              </a:rPr>
              <a:t>Know the referral process for mental health support services.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6640" y="1691640"/>
            <a:ext cx="4206240" cy="3383280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35240" y="1874519"/>
            <a:ext cx="3840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A9D8F"/>
                </a:solidFill>
                <a:latin typeface="Calibri"/>
              </a:rPr>
              <a:t>A GOOD COUNSELOR...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331720"/>
            <a:ext cx="3840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  <a:buClr>
                <a:srgbClr val="2A9D8F"/>
              </a:buClr>
              <a:buChar char="▸"/>
            </a:pPr>
            <a:r>
              <a:rPr sz="1500" b="0">
                <a:solidFill>
                  <a:srgbClr val="333A42"/>
                </a:solidFill>
                <a:latin typeface="Calibri"/>
              </a:rPr>
              <a:t>Listens more than they fix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  <a:buClr>
                <a:srgbClr val="2A9D8F"/>
              </a:buClr>
              <a:buChar char="▸"/>
            </a:pPr>
            <a:r>
              <a:rPr sz="1500" b="0">
                <a:solidFill>
                  <a:srgbClr val="333A42"/>
                </a:solidFill>
                <a:latin typeface="Calibri"/>
              </a:rPr>
              <a:t>Takes "I miss home" seriously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  <a:buClr>
                <a:srgbClr val="2A9D8F"/>
              </a:buClr>
              <a:buChar char="▸"/>
            </a:pPr>
            <a:r>
              <a:rPr sz="1500" b="0">
                <a:solidFill>
                  <a:srgbClr val="333A42"/>
                </a:solidFill>
                <a:latin typeface="Calibri"/>
              </a:rPr>
              <a:t>Notices the quiet kid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  <a:buClr>
                <a:srgbClr val="2A9D8F"/>
              </a:buClr>
              <a:buChar char="▸"/>
            </a:pPr>
            <a:r>
              <a:rPr sz="1500" b="0">
                <a:solidFill>
                  <a:srgbClr val="333A42"/>
                </a:solidFill>
                <a:latin typeface="Calibri"/>
              </a:rPr>
              <a:t>Loops in a supervisor early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  <a:buClr>
                <a:srgbClr val="2A9D8F"/>
              </a:buClr>
              <a:buChar char="▸"/>
            </a:pPr>
            <a:r>
              <a:rPr sz="1500" b="0">
                <a:solidFill>
                  <a:srgbClr val="333A42"/>
                </a:solidFill>
                <a:latin typeface="Calibri"/>
              </a:rPr>
              <a:t>Knows safety beats secrecy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6E"/>
                </a:solidFill>
                <a:latin typeface="Calibri"/>
              </a:rPr>
              <a:t>Summer 2026 Camp Health &amp; Safety  •  Counselor Training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6E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E63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CBE3DF"/>
                </a:solidFill>
                <a:latin typeface="Calibri"/>
              </a:rPr>
              <a:t>SECTION 9.2.1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Food Allergies &amp; Anaphylaxis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6492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  <a:buClr>
                <a:srgbClr val="E63A46"/>
              </a:buClr>
              <a:buChar char="▸"/>
            </a:pPr>
            <a:r>
              <a:rPr sz="1650" b="0">
                <a:solidFill>
                  <a:srgbClr val="333A42"/>
                </a:solidFill>
                <a:latin typeface="Calibri"/>
              </a:rPr>
              <a:t>Know the signs: hives, swelling, difficulty breathing.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  <a:buClr>
                <a:srgbClr val="E63A46"/>
              </a:buClr>
              <a:buChar char="▸"/>
            </a:pPr>
            <a:r>
              <a:rPr sz="1650" b="0">
                <a:solidFill>
                  <a:srgbClr val="333A42"/>
                </a:solidFill>
                <a:latin typeface="Calibri"/>
              </a:rPr>
              <a:t>Common allergens: peanuts, tree nuts, shellfish, dairy, eggs.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  <a:buClr>
                <a:srgbClr val="E63A46"/>
              </a:buClr>
              <a:buChar char="▸"/>
            </a:pPr>
            <a:r>
              <a:rPr sz="1650" b="0">
                <a:solidFill>
                  <a:srgbClr val="333A42"/>
                </a:solidFill>
                <a:latin typeface="Calibri"/>
              </a:rPr>
              <a:t>Anaphylaxis is severe and potentially life-threatening.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  <a:buClr>
                <a:srgbClr val="E63A46"/>
              </a:buClr>
              <a:buChar char="▸"/>
            </a:pPr>
            <a:r>
              <a:rPr sz="1650" b="0">
                <a:solidFill>
                  <a:srgbClr val="333A42"/>
                </a:solidFill>
                <a:latin typeface="Calibri"/>
              </a:rPr>
              <a:t>Symptoms: throat swelling, trouble breathing, drop in blood pressure, loss of consciousness.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  <a:buClr>
                <a:srgbClr val="E63A46"/>
              </a:buClr>
              <a:buChar char="▸"/>
            </a:pPr>
            <a:r>
              <a:rPr sz="1650" b="0">
                <a:solidFill>
                  <a:srgbClr val="333A42"/>
                </a:solidFill>
                <a:latin typeface="Calibri"/>
              </a:rPr>
              <a:t>Know where the emergency meds (EpiPens) are kept.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  <a:buClr>
                <a:srgbClr val="E63A46"/>
              </a:buClr>
              <a:buChar char="▸"/>
            </a:pPr>
            <a:r>
              <a:rPr sz="1650" b="0">
                <a:solidFill>
                  <a:srgbClr val="333A42"/>
                </a:solidFill>
                <a:latin typeface="Calibri"/>
              </a:rPr>
              <a:t>Know the emergency response steps cold.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6640" y="1691640"/>
            <a:ext cx="4206240" cy="3291840"/>
          </a:xfrm>
          <a:prstGeom prst="rect">
            <a:avLst/>
          </a:prstGeom>
          <a:solidFill>
            <a:srgbClr val="EEF2F6"/>
          </a:solidFill>
          <a:ln w="19050">
            <a:solidFill>
              <a:srgbClr val="B8C4D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400">
                <a:solidFill>
                  <a:srgbClr val="2A9D8F"/>
                </a:solidFill>
                <a:latin typeface="Calibri"/>
              </a:rPr>
              <a:t>📷</a:t>
            </a:r>
          </a:p>
          <a:p>
            <a:pPr algn="ctr"/>
            <a:r>
              <a:rPr sz="1500" b="1">
                <a:solidFill>
                  <a:srgbClr val="1F3A5F"/>
                </a:solidFill>
                <a:latin typeface="Calibri"/>
              </a:rPr>
              <a:t>INSERT PHOTO</a:t>
            </a:r>
          </a:p>
          <a:p>
            <a:pPr algn="ctr"/>
            <a:r>
              <a:rPr sz="1100" i="1">
                <a:solidFill>
                  <a:srgbClr val="5A636E"/>
                </a:solidFill>
                <a:latin typeface="Calibri"/>
              </a:rPr>
              <a:t>Hives / allergic reaction example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5120640"/>
            <a:ext cx="4206240" cy="548640"/>
          </a:xfrm>
          <a:prstGeom prst="roundRect">
            <a:avLst/>
          </a:prstGeom>
          <a:solidFill>
            <a:srgbClr val="E63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Seconds matter. Don't wait to "see if it passes."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6E"/>
                </a:solidFill>
                <a:latin typeface="Calibri"/>
              </a:rPr>
              <a:t>Summer 2026 Camp Health &amp; Safety  •  Counselor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6E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E63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CBE3DF"/>
                </a:solidFill>
                <a:latin typeface="Calibri"/>
              </a:rPr>
              <a:t>SECTION 9.2.2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EpiPen Administration — Step by Step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6675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750"/>
              </a:spcAft>
              <a:buClr>
                <a:srgbClr val="E63A46"/>
              </a:buClr>
              <a:buChar char="▸"/>
            </a:pPr>
            <a:r>
              <a:rPr sz="1500" b="0">
                <a:solidFill>
                  <a:srgbClr val="333A42"/>
                </a:solidFill>
                <a:latin typeface="Calibri"/>
              </a:rPr>
              <a:t>Remove the auto-injector from the carrier tube.</a:t>
            </a:r>
          </a:p>
          <a:p>
            <a:pPr algn="l">
              <a:lnSpc>
                <a:spcPct val="100000"/>
              </a:lnSpc>
              <a:spcAft>
                <a:spcPts val="750"/>
              </a:spcAft>
              <a:buClr>
                <a:srgbClr val="E63A46"/>
              </a:buClr>
              <a:buChar char="▸"/>
            </a:pPr>
            <a:r>
              <a:rPr sz="1500" b="0">
                <a:solidFill>
                  <a:srgbClr val="333A42"/>
                </a:solidFill>
                <a:latin typeface="Calibri"/>
              </a:rPr>
              <a:t>Grasp it with the orange tip pointing downward.</a:t>
            </a:r>
          </a:p>
          <a:p>
            <a:pPr algn="l">
              <a:lnSpc>
                <a:spcPct val="100000"/>
              </a:lnSpc>
              <a:spcAft>
                <a:spcPts val="750"/>
              </a:spcAft>
              <a:buClr>
                <a:srgbClr val="E63A46"/>
              </a:buClr>
              <a:buChar char="▸"/>
            </a:pPr>
            <a:r>
              <a:rPr sz="1500" b="0">
                <a:solidFill>
                  <a:srgbClr val="333A42"/>
                </a:solidFill>
                <a:latin typeface="Calibri"/>
              </a:rPr>
              <a:t>Remove the blue safety release (blue to the sky).</a:t>
            </a:r>
          </a:p>
          <a:p>
            <a:pPr algn="l">
              <a:lnSpc>
                <a:spcPct val="100000"/>
              </a:lnSpc>
              <a:spcAft>
                <a:spcPts val="750"/>
              </a:spcAft>
              <a:buClr>
                <a:srgbClr val="E63A46"/>
              </a:buClr>
              <a:buChar char="▸"/>
            </a:pPr>
            <a:r>
              <a:rPr sz="1500" b="0">
                <a:solidFill>
                  <a:srgbClr val="333A42"/>
                </a:solidFill>
                <a:latin typeface="Calibri"/>
              </a:rPr>
              <a:t>Place the orange tip against the outer thigh at 90°.</a:t>
            </a:r>
          </a:p>
          <a:p>
            <a:pPr algn="l">
              <a:lnSpc>
                <a:spcPct val="100000"/>
              </a:lnSpc>
              <a:spcAft>
                <a:spcPts val="750"/>
              </a:spcAft>
              <a:buClr>
                <a:srgbClr val="E63A46"/>
              </a:buClr>
              <a:buChar char="▸"/>
            </a:pPr>
            <a:r>
              <a:rPr sz="1500" b="0">
                <a:solidFill>
                  <a:srgbClr val="333A42"/>
                </a:solidFill>
                <a:latin typeface="Calibri"/>
              </a:rPr>
              <a:t>Push firmly until it "clicks" — hold for 10 seconds (orange to the thigh).</a:t>
            </a:r>
          </a:p>
          <a:p>
            <a:pPr algn="l">
              <a:lnSpc>
                <a:spcPct val="100000"/>
              </a:lnSpc>
              <a:spcAft>
                <a:spcPts val="750"/>
              </a:spcAft>
              <a:buClr>
                <a:srgbClr val="E63A46"/>
              </a:buClr>
              <a:buChar char="▸"/>
            </a:pPr>
            <a:r>
              <a:rPr sz="1500" b="0">
                <a:solidFill>
                  <a:srgbClr val="333A42"/>
                </a:solidFill>
                <a:latin typeface="Calibri"/>
              </a:rPr>
              <a:t>Remove and massage the injection area.</a:t>
            </a:r>
          </a:p>
          <a:p>
            <a:pPr algn="l">
              <a:lnSpc>
                <a:spcPct val="100000"/>
              </a:lnSpc>
              <a:spcAft>
                <a:spcPts val="750"/>
              </a:spcAft>
              <a:buClr>
                <a:srgbClr val="E63A46"/>
              </a:buClr>
              <a:buChar char="▸"/>
            </a:pPr>
            <a:r>
              <a:rPr sz="1500" b="0">
                <a:solidFill>
                  <a:srgbClr val="333A42"/>
                </a:solidFill>
                <a:latin typeface="Calibri"/>
              </a:rPr>
              <a:t>Call 911 immediately after administering.</a:t>
            </a:r>
          </a:p>
          <a:p>
            <a:pPr algn="l">
              <a:lnSpc>
                <a:spcPct val="100000"/>
              </a:lnSpc>
              <a:spcAft>
                <a:spcPts val="750"/>
              </a:spcAft>
              <a:buClr>
                <a:srgbClr val="E63A46"/>
              </a:buClr>
              <a:buChar char="▸"/>
            </a:pPr>
            <a:r>
              <a:rPr sz="1500" b="0">
                <a:solidFill>
                  <a:srgbClr val="333A42"/>
                </a:solidFill>
                <a:latin typeface="Calibri"/>
              </a:rPr>
              <a:t>Contact the Site Nurse and program administration.</a:t>
            </a:r>
          </a:p>
          <a:p>
            <a:pPr algn="l">
              <a:lnSpc>
                <a:spcPct val="100000"/>
              </a:lnSpc>
              <a:spcAft>
                <a:spcPts val="750"/>
              </a:spcAft>
              <a:buClr>
                <a:srgbClr val="E63A46"/>
              </a:buClr>
              <a:buChar char="▸"/>
            </a:pPr>
            <a:r>
              <a:rPr sz="1500" b="0">
                <a:solidFill>
                  <a:srgbClr val="333A42"/>
                </a:solidFill>
                <a:latin typeface="Calibri"/>
              </a:rPr>
              <a:t>Document the incident thoroughly.</a:t>
            </a:r>
          </a:p>
          <a:p>
            <a:pPr algn="l">
              <a:lnSpc>
                <a:spcPct val="100000"/>
              </a:lnSpc>
              <a:spcAft>
                <a:spcPts val="750"/>
              </a:spcAft>
              <a:buClr>
                <a:srgbClr val="E63A46"/>
              </a:buClr>
              <a:buChar char="▸"/>
            </a:pPr>
            <a:r>
              <a:rPr sz="1500" b="0">
                <a:solidFill>
                  <a:srgbClr val="333A42"/>
                </a:solidFill>
                <a:latin typeface="Calibri"/>
              </a:rPr>
              <a:t>The student STILL goes to the hospital after an EpiPen.</a:t>
            </a:r>
          </a:p>
        </p:txBody>
      </p:sp>
      <p:sp>
        <p:nvSpPr>
          <p:cNvPr id="7" name="Rectangle 6"/>
          <p:cNvSpPr/>
          <p:nvPr/>
        </p:nvSpPr>
        <p:spPr>
          <a:xfrm>
            <a:off x="7498079" y="1645920"/>
            <a:ext cx="4114800" cy="3200400"/>
          </a:xfrm>
          <a:prstGeom prst="rect">
            <a:avLst/>
          </a:prstGeom>
          <a:solidFill>
            <a:srgbClr val="EEF2F6"/>
          </a:solidFill>
          <a:ln w="19050">
            <a:solidFill>
              <a:srgbClr val="B8C4D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400">
                <a:solidFill>
                  <a:srgbClr val="2A9D8F"/>
                </a:solidFill>
                <a:latin typeface="Calibri"/>
              </a:rPr>
              <a:t>📷</a:t>
            </a:r>
          </a:p>
          <a:p>
            <a:pPr algn="ctr"/>
            <a:r>
              <a:rPr sz="1500" b="1">
                <a:solidFill>
                  <a:srgbClr val="1F3A5F"/>
                </a:solidFill>
                <a:latin typeface="Calibri"/>
              </a:rPr>
              <a:t>INSERT PHOTO</a:t>
            </a:r>
          </a:p>
          <a:p>
            <a:pPr algn="ctr"/>
            <a:r>
              <a:rPr sz="1100" i="1">
                <a:solidFill>
                  <a:srgbClr val="5A636E"/>
                </a:solidFill>
                <a:latin typeface="Calibri"/>
              </a:rPr>
              <a:t>EpiPen auto-injector / how to use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4983480"/>
            <a:ext cx="4114800" cy="54864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Blue to the sky, orange to the thigh.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5623560"/>
            <a:ext cx="4114800" cy="548640"/>
          </a:xfrm>
          <a:prstGeom prst="roundRect">
            <a:avLst/>
          </a:prstGeom>
          <a:solidFill>
            <a:srgbClr val="E63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Always hospital after. No exceptions.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6E"/>
                </a:solidFill>
                <a:latin typeface="Calibri"/>
              </a:rPr>
              <a:t>Summer 2026 Camp Health &amp; Safety  •  Counselor Training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6E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E63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CBE3DF"/>
                </a:solidFill>
                <a:latin typeface="Calibri"/>
              </a:rPr>
              <a:t>EMERGENCY SKILLS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Seizures: Stay Calm, Keep Them Safe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6492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900"/>
              </a:spcAft>
              <a:buClr>
                <a:srgbClr val="E63A46"/>
              </a:buClr>
              <a:buChar char="▸"/>
            </a:pPr>
            <a:r>
              <a:rPr sz="1600" b="0">
                <a:solidFill>
                  <a:srgbClr val="333A42"/>
                </a:solidFill>
                <a:latin typeface="Calibri"/>
              </a:rPr>
              <a:t>Stay calm and note the time it starts.</a:t>
            </a:r>
          </a:p>
          <a:p>
            <a:pPr algn="l">
              <a:lnSpc>
                <a:spcPct val="100000"/>
              </a:lnSpc>
              <a:spcAft>
                <a:spcPts val="900"/>
              </a:spcAft>
              <a:buClr>
                <a:srgbClr val="E63A46"/>
              </a:buClr>
              <a:buChar char="▸"/>
            </a:pPr>
            <a:r>
              <a:rPr sz="1600" b="0">
                <a:solidFill>
                  <a:srgbClr val="333A42"/>
                </a:solidFill>
                <a:latin typeface="Calibri"/>
              </a:rPr>
              <a:t>Ease the person to the floor and clear hard or sharp objects away.</a:t>
            </a:r>
          </a:p>
          <a:p>
            <a:pPr algn="l">
              <a:lnSpc>
                <a:spcPct val="100000"/>
              </a:lnSpc>
              <a:spcAft>
                <a:spcPts val="900"/>
              </a:spcAft>
              <a:buClr>
                <a:srgbClr val="E63A46"/>
              </a:buClr>
              <a:buChar char="▸"/>
            </a:pPr>
            <a:r>
              <a:rPr sz="1600" b="0">
                <a:solidFill>
                  <a:srgbClr val="333A42"/>
                </a:solidFill>
                <a:latin typeface="Calibri"/>
              </a:rPr>
              <a:t>Turn them gently onto their side to keep the airway clear.</a:t>
            </a:r>
          </a:p>
          <a:p>
            <a:pPr algn="l">
              <a:lnSpc>
                <a:spcPct val="100000"/>
              </a:lnSpc>
              <a:spcAft>
                <a:spcPts val="900"/>
              </a:spcAft>
              <a:buClr>
                <a:srgbClr val="E63A46"/>
              </a:buClr>
              <a:buChar char="▸"/>
            </a:pPr>
            <a:r>
              <a:rPr sz="1600" b="0">
                <a:solidFill>
                  <a:srgbClr val="333A42"/>
                </a:solidFill>
                <a:latin typeface="Calibri"/>
              </a:rPr>
              <a:t>Cushion their head; loosen anything tight around the neck.</a:t>
            </a:r>
          </a:p>
          <a:p>
            <a:pPr algn="l">
              <a:lnSpc>
                <a:spcPct val="100000"/>
              </a:lnSpc>
              <a:spcAft>
                <a:spcPts val="900"/>
              </a:spcAft>
              <a:buClr>
                <a:srgbClr val="E63A46"/>
              </a:buClr>
              <a:buChar char="▸"/>
            </a:pPr>
            <a:r>
              <a:rPr sz="1600" b="0">
                <a:solidFill>
                  <a:srgbClr val="333A42"/>
                </a:solidFill>
                <a:latin typeface="Calibri"/>
              </a:rPr>
              <a:t>Do NOT hold them down and do NOT put anything in their mouth.</a:t>
            </a:r>
          </a:p>
          <a:p>
            <a:pPr algn="l">
              <a:lnSpc>
                <a:spcPct val="100000"/>
              </a:lnSpc>
              <a:spcAft>
                <a:spcPts val="900"/>
              </a:spcAft>
              <a:buClr>
                <a:srgbClr val="E63A46"/>
              </a:buClr>
              <a:buChar char="▸"/>
            </a:pPr>
            <a:r>
              <a:rPr sz="1600" b="0">
                <a:solidFill>
                  <a:srgbClr val="333A42"/>
                </a:solidFill>
                <a:latin typeface="Calibri"/>
              </a:rPr>
              <a:t>Call 911 if it lasts over 5 minutes, repeats, or they don't wake up.</a:t>
            </a:r>
          </a:p>
          <a:p>
            <a:pPr algn="l">
              <a:lnSpc>
                <a:spcPct val="100000"/>
              </a:lnSpc>
              <a:spcAft>
                <a:spcPts val="900"/>
              </a:spcAft>
              <a:buClr>
                <a:srgbClr val="E63A46"/>
              </a:buClr>
              <a:buChar char="▸"/>
            </a:pPr>
            <a:r>
              <a:rPr sz="1600" b="0">
                <a:solidFill>
                  <a:srgbClr val="333A42"/>
                </a:solidFill>
                <a:latin typeface="Calibri"/>
              </a:rPr>
              <a:t>Notify the Site Nurse and document everything.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6640" y="1691640"/>
            <a:ext cx="4206240" cy="3291840"/>
          </a:xfrm>
          <a:prstGeom prst="rect">
            <a:avLst/>
          </a:prstGeom>
          <a:solidFill>
            <a:srgbClr val="EEF2F6"/>
          </a:solidFill>
          <a:ln w="19050">
            <a:solidFill>
              <a:srgbClr val="B8C4D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400">
                <a:solidFill>
                  <a:srgbClr val="2A9D8F"/>
                </a:solidFill>
                <a:latin typeface="Calibri"/>
              </a:rPr>
              <a:t>📷</a:t>
            </a:r>
          </a:p>
          <a:p>
            <a:pPr algn="ctr"/>
            <a:r>
              <a:rPr sz="1500" b="1">
                <a:solidFill>
                  <a:srgbClr val="1F3A5F"/>
                </a:solidFill>
                <a:latin typeface="Calibri"/>
              </a:rPr>
              <a:t>INSERT PHOTO / DIAGRAM</a:t>
            </a:r>
          </a:p>
          <a:p>
            <a:pPr algn="ctr"/>
            <a:r>
              <a:rPr sz="1100" i="1">
                <a:solidFill>
                  <a:srgbClr val="5A636E"/>
                </a:solidFill>
                <a:latin typeface="Calibri"/>
              </a:rPr>
              <a:t>Seizure first aid — recovery position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5120640"/>
            <a:ext cx="4206240" cy="54864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Time it. Protect the head. Side position.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6E"/>
                </a:solidFill>
                <a:latin typeface="Calibri"/>
              </a:rPr>
              <a:t>Summer 2026 Camp Health &amp; Safety  •  Counselor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6E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CBE3DF"/>
                </a:solidFill>
                <a:latin typeface="Calibri"/>
              </a:rPr>
              <a:t>EMERGENCY SKILLS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Albuterol Inhalers: Helping Campers Breathe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6492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850"/>
              </a:spcAft>
              <a:buClr>
                <a:srgbClr val="2A9D8F"/>
              </a:buClr>
              <a:buChar char="▸"/>
            </a:pPr>
            <a:r>
              <a:rPr sz="1550" b="0">
                <a:solidFill>
                  <a:srgbClr val="333A42"/>
                </a:solidFill>
                <a:latin typeface="Calibri"/>
              </a:rPr>
              <a:t>Know which campers have asthma BEFORE the wheeze starts.</a:t>
            </a:r>
          </a:p>
          <a:p>
            <a:pPr algn="l">
              <a:lnSpc>
                <a:spcPct val="100000"/>
              </a:lnSpc>
              <a:spcAft>
                <a:spcPts val="850"/>
              </a:spcAft>
              <a:buClr>
                <a:srgbClr val="2A9D8F"/>
              </a:buClr>
              <a:buChar char="▸"/>
            </a:pPr>
            <a:r>
              <a:rPr sz="1550" b="0">
                <a:solidFill>
                  <a:srgbClr val="333A42"/>
                </a:solidFill>
                <a:latin typeface="Calibri"/>
              </a:rPr>
              <a:t>Signs of trouble: wheezing, coughing, tight chest, hard time talking.</a:t>
            </a:r>
          </a:p>
          <a:p>
            <a:pPr algn="l">
              <a:lnSpc>
                <a:spcPct val="100000"/>
              </a:lnSpc>
              <a:spcAft>
                <a:spcPts val="850"/>
              </a:spcAft>
              <a:buClr>
                <a:srgbClr val="2A9D8F"/>
              </a:buClr>
              <a:buChar char="▸"/>
            </a:pPr>
            <a:r>
              <a:rPr sz="1550" b="0">
                <a:solidFill>
                  <a:srgbClr val="333A42"/>
                </a:solidFill>
                <a:latin typeface="Calibri"/>
              </a:rPr>
              <a:t>The Nurse/plan directs inhaler use — follow the student's action plan.</a:t>
            </a:r>
          </a:p>
          <a:p>
            <a:pPr algn="l">
              <a:lnSpc>
                <a:spcPct val="100000"/>
              </a:lnSpc>
              <a:spcAft>
                <a:spcPts val="850"/>
              </a:spcAft>
              <a:buClr>
                <a:srgbClr val="2A9D8F"/>
              </a:buClr>
              <a:buChar char="▸"/>
            </a:pPr>
            <a:r>
              <a:rPr sz="1550" b="0">
                <a:solidFill>
                  <a:srgbClr val="333A42"/>
                </a:solidFill>
                <a:latin typeface="Calibri"/>
              </a:rPr>
              <a:t>Use a spacer if one is provided; shake, one puff, slow deep breath, hold.</a:t>
            </a:r>
          </a:p>
          <a:p>
            <a:pPr algn="l">
              <a:lnSpc>
                <a:spcPct val="100000"/>
              </a:lnSpc>
              <a:spcAft>
                <a:spcPts val="850"/>
              </a:spcAft>
              <a:buClr>
                <a:srgbClr val="2A9D8F"/>
              </a:buClr>
              <a:buChar char="▸"/>
            </a:pPr>
            <a:r>
              <a:rPr sz="1550" b="0">
                <a:solidFill>
                  <a:srgbClr val="333A42"/>
                </a:solidFill>
                <a:latin typeface="Calibri"/>
              </a:rPr>
              <a:t>Have them sit upright and stay calm; panic makes breathing harder.</a:t>
            </a:r>
          </a:p>
          <a:p>
            <a:pPr algn="l">
              <a:lnSpc>
                <a:spcPct val="100000"/>
              </a:lnSpc>
              <a:spcAft>
                <a:spcPts val="850"/>
              </a:spcAft>
              <a:buClr>
                <a:srgbClr val="2A9D8F"/>
              </a:buClr>
              <a:buChar char="▸"/>
            </a:pPr>
            <a:r>
              <a:rPr sz="1550" b="0">
                <a:solidFill>
                  <a:srgbClr val="333A42"/>
                </a:solidFill>
                <a:latin typeface="Calibri"/>
              </a:rPr>
              <a:t>Not improving, lips/face turning blue, or no inhaler? Call 911 now.</a:t>
            </a:r>
          </a:p>
          <a:p>
            <a:pPr algn="l">
              <a:lnSpc>
                <a:spcPct val="100000"/>
              </a:lnSpc>
              <a:spcAft>
                <a:spcPts val="850"/>
              </a:spcAft>
              <a:buClr>
                <a:srgbClr val="2A9D8F"/>
              </a:buClr>
              <a:buChar char="▸"/>
            </a:pPr>
            <a:r>
              <a:rPr sz="1550" b="0">
                <a:solidFill>
                  <a:srgbClr val="333A42"/>
                </a:solidFill>
                <a:latin typeface="Calibri"/>
              </a:rPr>
              <a:t>Notify the Site Nurse and document the episode.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6640" y="1691640"/>
            <a:ext cx="4206240" cy="3291840"/>
          </a:xfrm>
          <a:prstGeom prst="rect">
            <a:avLst/>
          </a:prstGeom>
          <a:solidFill>
            <a:srgbClr val="EEF2F6"/>
          </a:solidFill>
          <a:ln w="19050">
            <a:solidFill>
              <a:srgbClr val="B8C4D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400">
                <a:solidFill>
                  <a:srgbClr val="2A9D8F"/>
                </a:solidFill>
                <a:latin typeface="Calibri"/>
              </a:rPr>
              <a:t>📷</a:t>
            </a:r>
          </a:p>
          <a:p>
            <a:pPr algn="ctr"/>
            <a:r>
              <a:rPr sz="1500" b="1">
                <a:solidFill>
                  <a:srgbClr val="1F3A5F"/>
                </a:solidFill>
                <a:latin typeface="Calibri"/>
              </a:rPr>
              <a:t>INSERT PHOTO</a:t>
            </a:r>
          </a:p>
          <a:p>
            <a:pPr algn="ctr"/>
            <a:r>
              <a:rPr sz="1100" i="1">
                <a:solidFill>
                  <a:srgbClr val="5A636E"/>
                </a:solidFill>
                <a:latin typeface="Calibri"/>
              </a:rPr>
              <a:t>Albuterol inhaler (+ spacer)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5120640"/>
            <a:ext cx="4206240" cy="548640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Sit up, slow breaths, follow their plan.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6E"/>
                </a:solidFill>
                <a:latin typeface="Calibri"/>
              </a:rPr>
              <a:t>Summer 2026 Camp Health &amp; Safety  •  Counselor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6E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E63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CBE3DF"/>
                </a:solidFill>
                <a:latin typeface="Calibri"/>
              </a:rPr>
              <a:t>SECTION 9.2.3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Other Medical Emergencies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1400"/>
              </a:spcAft>
              <a:buClr>
                <a:srgbClr val="E63A46"/>
              </a:buClr>
              <a:buChar char="▸"/>
            </a:pPr>
            <a:r>
              <a:rPr sz="1900" b="0">
                <a:solidFill>
                  <a:srgbClr val="333A42"/>
                </a:solidFill>
                <a:latin typeface="Calibri"/>
              </a:rPr>
              <a:t>Stay calm and assess the situation.</a:t>
            </a:r>
          </a:p>
          <a:p>
            <a:pPr algn="l">
              <a:lnSpc>
                <a:spcPct val="100000"/>
              </a:lnSpc>
              <a:spcAft>
                <a:spcPts val="1400"/>
              </a:spcAft>
              <a:buClr>
                <a:srgbClr val="E63A46"/>
              </a:buClr>
              <a:buChar char="▸"/>
            </a:pPr>
            <a:r>
              <a:rPr sz="1900" b="0">
                <a:solidFill>
                  <a:srgbClr val="333A42"/>
                </a:solidFill>
                <a:latin typeface="Calibri"/>
              </a:rPr>
              <a:t>Call for medical assistance as appropriate — 911 for life-threatening emergencies.</a:t>
            </a:r>
          </a:p>
          <a:p>
            <a:pPr algn="l">
              <a:lnSpc>
                <a:spcPct val="100000"/>
              </a:lnSpc>
              <a:spcAft>
                <a:spcPts val="1400"/>
              </a:spcAft>
              <a:buClr>
                <a:srgbClr val="E63A46"/>
              </a:buClr>
              <a:buChar char="▸"/>
            </a:pPr>
            <a:r>
              <a:rPr sz="1900" b="0">
                <a:solidFill>
                  <a:srgbClr val="333A42"/>
                </a:solidFill>
                <a:latin typeface="Calibri"/>
              </a:rPr>
              <a:t>Never leave a student alone during a medical emergency.</a:t>
            </a:r>
          </a:p>
          <a:p>
            <a:pPr algn="l">
              <a:lnSpc>
                <a:spcPct val="100000"/>
              </a:lnSpc>
              <a:spcAft>
                <a:spcPts val="1400"/>
              </a:spcAft>
              <a:buClr>
                <a:srgbClr val="E63A46"/>
              </a:buClr>
              <a:buChar char="▸"/>
            </a:pPr>
            <a:r>
              <a:rPr sz="1900" b="0">
                <a:solidFill>
                  <a:srgbClr val="333A42"/>
                </a:solidFill>
                <a:latin typeface="Calibri"/>
              </a:rPr>
              <a:t>Contact the Site Nurse and program administration immediately.</a:t>
            </a:r>
          </a:p>
          <a:p>
            <a:pPr algn="l">
              <a:lnSpc>
                <a:spcPct val="100000"/>
              </a:lnSpc>
              <a:spcAft>
                <a:spcPts val="1400"/>
              </a:spcAft>
              <a:buClr>
                <a:srgbClr val="E63A46"/>
              </a:buClr>
              <a:buChar char="▸"/>
            </a:pPr>
            <a:r>
              <a:rPr sz="1900" b="0">
                <a:solidFill>
                  <a:srgbClr val="333A42"/>
                </a:solidFill>
                <a:latin typeface="Calibri"/>
              </a:rPr>
              <a:t>Document all actions taken.</a:t>
            </a:r>
          </a:p>
          <a:p>
            <a:pPr algn="l">
              <a:lnSpc>
                <a:spcPct val="100000"/>
              </a:lnSpc>
              <a:spcAft>
                <a:spcPts val="1400"/>
              </a:spcAft>
              <a:buClr>
                <a:srgbClr val="E63A46"/>
              </a:buClr>
              <a:buChar char="▸"/>
            </a:pPr>
            <a:r>
              <a:rPr sz="1900" b="0">
                <a:solidFill>
                  <a:srgbClr val="333A42"/>
                </a:solidFill>
                <a:latin typeface="Calibri"/>
              </a:rPr>
              <a:t>Follow up with the affected students and their parents.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486400"/>
            <a:ext cx="5852160" cy="54864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Calm is contagious. So is panic. Choose calm.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6E"/>
                </a:solidFill>
                <a:latin typeface="Calibri"/>
              </a:rPr>
              <a:t>Summer 2026 Camp Health &amp; Safety  •  Counselor Training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6E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CBE3DF"/>
                </a:solidFill>
                <a:latin typeface="Calibri"/>
              </a:rPr>
              <a:t>KNOW BEFORE YOU 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Route to the Emergency Room — UCLA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6949440" cy="4480560"/>
          </a:xfrm>
          <a:prstGeom prst="rect">
            <a:avLst/>
          </a:prstGeom>
          <a:solidFill>
            <a:srgbClr val="EEF2F6"/>
          </a:solidFill>
          <a:ln w="19050">
            <a:solidFill>
              <a:srgbClr val="B8C4D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400">
                <a:solidFill>
                  <a:srgbClr val="2A9D8F"/>
                </a:solidFill>
                <a:latin typeface="Calibri"/>
              </a:rPr>
              <a:t>📷</a:t>
            </a:r>
          </a:p>
          <a:p>
            <a:pPr algn="ctr"/>
            <a:r>
              <a:rPr sz="1500" b="1">
                <a:solidFill>
                  <a:srgbClr val="1F3A5F"/>
                </a:solidFill>
                <a:latin typeface="Calibri"/>
              </a:rPr>
              <a:t>INSERT MAP</a:t>
            </a:r>
          </a:p>
          <a:p>
            <a:pPr algn="ctr"/>
            <a:r>
              <a:rPr sz="1100" i="1">
                <a:solidFill>
                  <a:srgbClr val="5A636E"/>
                </a:solidFill>
                <a:latin typeface="Calibri"/>
              </a:rPr>
              <a:t>Camp → Ronald Reagan UCLA Medical Center 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1645920"/>
            <a:ext cx="3931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E63A46"/>
                </a:solidFill>
                <a:latin typeface="Calibri"/>
              </a:rPr>
              <a:t>BEFORE YOU DRIVE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103120"/>
            <a:ext cx="3931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1100"/>
              </a:spcAft>
              <a:buClr>
                <a:srgbClr val="1F3A5F"/>
              </a:buClr>
              <a:buChar char="▸"/>
            </a:pPr>
            <a:r>
              <a:rPr sz="1450" b="0">
                <a:solidFill>
                  <a:srgbClr val="333A42"/>
                </a:solidFill>
                <a:latin typeface="Calibri"/>
              </a:rPr>
              <a:t>Confirm the exact ER address &amp; entrance</a:t>
            </a:r>
          </a:p>
          <a:p>
            <a:pPr algn="l">
              <a:lnSpc>
                <a:spcPct val="100000"/>
              </a:lnSpc>
              <a:spcAft>
                <a:spcPts val="1100"/>
              </a:spcAft>
              <a:buClr>
                <a:srgbClr val="1F3A5F"/>
              </a:buClr>
              <a:buChar char="▸"/>
            </a:pPr>
            <a:r>
              <a:rPr sz="1450" b="0">
                <a:solidFill>
                  <a:srgbClr val="333A42"/>
                </a:solidFill>
                <a:latin typeface="Calibri"/>
              </a:rPr>
              <a:t>Bring the camper's Medical Form + ID card</a:t>
            </a:r>
          </a:p>
          <a:p>
            <a:pPr algn="l">
              <a:lnSpc>
                <a:spcPct val="100000"/>
              </a:lnSpc>
              <a:spcAft>
                <a:spcPts val="1100"/>
              </a:spcAft>
              <a:buClr>
                <a:srgbClr val="1F3A5F"/>
              </a:buClr>
              <a:buChar char="▸"/>
            </a:pPr>
            <a:r>
              <a:rPr sz="1450" b="0">
                <a:solidFill>
                  <a:srgbClr val="333A42"/>
                </a:solidFill>
                <a:latin typeface="Calibri"/>
              </a:rPr>
              <a:t>Take a charged phone + the van keys</a:t>
            </a:r>
          </a:p>
          <a:p>
            <a:pPr algn="l">
              <a:lnSpc>
                <a:spcPct val="100000"/>
              </a:lnSpc>
              <a:spcAft>
                <a:spcPts val="1100"/>
              </a:spcAft>
              <a:buClr>
                <a:srgbClr val="1F3A5F"/>
              </a:buClr>
              <a:buChar char="▸"/>
            </a:pPr>
            <a:r>
              <a:rPr sz="1450" b="0">
                <a:solidFill>
                  <a:srgbClr val="333A42"/>
                </a:solidFill>
                <a:latin typeface="Calibri"/>
              </a:rPr>
              <a:t>Tell the Nurse &amp; Director you're leaving</a:t>
            </a:r>
          </a:p>
          <a:p>
            <a:pPr algn="l">
              <a:lnSpc>
                <a:spcPct val="100000"/>
              </a:lnSpc>
              <a:spcAft>
                <a:spcPts val="1100"/>
              </a:spcAft>
              <a:buClr>
                <a:srgbClr val="1F3A5F"/>
              </a:buClr>
              <a:buChar char="▸"/>
            </a:pPr>
            <a:r>
              <a:rPr sz="1450" b="0">
                <a:solidFill>
                  <a:srgbClr val="333A42"/>
                </a:solidFill>
                <a:latin typeface="Calibri"/>
              </a:rPr>
              <a:t>Never transport a critical patient — call 911</a:t>
            </a:r>
          </a:p>
          <a:p>
            <a:pPr algn="l">
              <a:lnSpc>
                <a:spcPct val="100000"/>
              </a:lnSpc>
              <a:spcAft>
                <a:spcPts val="1100"/>
              </a:spcAft>
              <a:buClr>
                <a:srgbClr val="1F3A5F"/>
              </a:buClr>
              <a:buChar char="▸"/>
            </a:pPr>
            <a:r>
              <a:rPr sz="1450" b="0">
                <a:solidFill>
                  <a:srgbClr val="333A42"/>
                </a:solidFill>
                <a:latin typeface="Calibri"/>
              </a:rPr>
              <a:t>Save the ER + Health Office numbers in your phone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5623560"/>
            <a:ext cx="3931920" cy="548640"/>
          </a:xfrm>
          <a:prstGeom prst="roundRect">
            <a:avLst/>
          </a:prstGeom>
          <a:solidFill>
            <a:srgbClr val="E63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Life-threatening = 911, not the van.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6E"/>
                </a:solidFill>
                <a:latin typeface="Calibri"/>
              </a:rPr>
              <a:t>Summer 2026 Camp Health &amp; Safety  •  Counselor Training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6E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E63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CBE3DF"/>
                </a:solidFill>
                <a:latin typeface="Calibri"/>
              </a:rPr>
              <a:t>KEEP THIS HANDY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Emergency Quick Reference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3611880" cy="640080"/>
          </a:xfrm>
          <a:prstGeom prst="rect">
            <a:avLst/>
          </a:prstGeom>
          <a:solidFill>
            <a:srgbClr val="E63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00784"/>
            <a:ext cx="3611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CALL 911 IF...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240280"/>
            <a:ext cx="3611880" cy="3657600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23160"/>
            <a:ext cx="31546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1300"/>
              </a:spcAft>
              <a:buClr>
                <a:srgbClr val="E63A46"/>
              </a:buClr>
              <a:buChar char="▸"/>
            </a:pPr>
            <a:r>
              <a:rPr sz="1500" b="0">
                <a:solidFill>
                  <a:srgbClr val="333A42"/>
                </a:solidFill>
                <a:latin typeface="Calibri"/>
              </a:rPr>
              <a:t>Not breathing / no pulse</a:t>
            </a:r>
          </a:p>
          <a:p>
            <a:pPr algn="l">
              <a:lnSpc>
                <a:spcPct val="100000"/>
              </a:lnSpc>
              <a:spcAft>
                <a:spcPts val="1300"/>
              </a:spcAft>
              <a:buClr>
                <a:srgbClr val="E63A46"/>
              </a:buClr>
              <a:buChar char="▸"/>
            </a:pPr>
            <a:r>
              <a:rPr sz="1500" b="0">
                <a:solidFill>
                  <a:srgbClr val="333A42"/>
                </a:solidFill>
                <a:latin typeface="Calibri"/>
              </a:rPr>
              <a:t>Severe allergic reaction</a:t>
            </a:r>
          </a:p>
          <a:p>
            <a:pPr algn="l">
              <a:lnSpc>
                <a:spcPct val="100000"/>
              </a:lnSpc>
              <a:spcAft>
                <a:spcPts val="1300"/>
              </a:spcAft>
              <a:buClr>
                <a:srgbClr val="E63A46"/>
              </a:buClr>
              <a:buChar char="▸"/>
            </a:pPr>
            <a:r>
              <a:rPr sz="1500" b="0">
                <a:solidFill>
                  <a:srgbClr val="333A42"/>
                </a:solidFill>
                <a:latin typeface="Calibri"/>
              </a:rPr>
              <a:t>Seizure over 5 min</a:t>
            </a:r>
          </a:p>
          <a:p>
            <a:pPr algn="l">
              <a:lnSpc>
                <a:spcPct val="100000"/>
              </a:lnSpc>
              <a:spcAft>
                <a:spcPts val="1300"/>
              </a:spcAft>
              <a:buClr>
                <a:srgbClr val="E63A46"/>
              </a:buClr>
              <a:buChar char="▸"/>
            </a:pPr>
            <a:r>
              <a:rPr sz="1500" b="0">
                <a:solidFill>
                  <a:srgbClr val="333A42"/>
                </a:solidFill>
                <a:latin typeface="Calibri"/>
              </a:rPr>
              <a:t>Uncontrolled bleeding</a:t>
            </a:r>
          </a:p>
          <a:p>
            <a:pPr algn="l">
              <a:lnSpc>
                <a:spcPct val="100000"/>
              </a:lnSpc>
              <a:spcAft>
                <a:spcPts val="1300"/>
              </a:spcAft>
              <a:buClr>
                <a:srgbClr val="E63A46"/>
              </a:buClr>
              <a:buChar char="▸"/>
            </a:pPr>
            <a:r>
              <a:rPr sz="1500" b="0">
                <a:solidFill>
                  <a:srgbClr val="333A42"/>
                </a:solidFill>
                <a:latin typeface="Calibri"/>
              </a:rPr>
              <a:t>Unconscious or confused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16552" y="1600200"/>
            <a:ext cx="3611880" cy="6400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16552" y="1700784"/>
            <a:ext cx="3611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THEN, EVERY TIME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16552" y="2240280"/>
            <a:ext cx="3611880" cy="3657600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45152" y="2423160"/>
            <a:ext cx="31546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1300"/>
              </a:spcAft>
              <a:buClr>
                <a:srgbClr val="1F3A5F"/>
              </a:buClr>
              <a:buChar char="▸"/>
            </a:pPr>
            <a:r>
              <a:rPr sz="1500" b="0">
                <a:solidFill>
                  <a:srgbClr val="333A42"/>
                </a:solidFill>
                <a:latin typeface="Calibri"/>
              </a:rPr>
              <a:t>Call the Site Nurse</a:t>
            </a:r>
          </a:p>
          <a:p>
            <a:pPr algn="l">
              <a:lnSpc>
                <a:spcPct val="100000"/>
              </a:lnSpc>
              <a:spcAft>
                <a:spcPts val="1300"/>
              </a:spcAft>
              <a:buClr>
                <a:srgbClr val="1F3A5F"/>
              </a:buClr>
              <a:buChar char="▸"/>
            </a:pPr>
            <a:r>
              <a:rPr sz="1500" b="0">
                <a:solidFill>
                  <a:srgbClr val="333A42"/>
                </a:solidFill>
                <a:latin typeface="Calibri"/>
              </a:rPr>
              <a:t>Notify the Director</a:t>
            </a:r>
          </a:p>
          <a:p>
            <a:pPr algn="l">
              <a:lnSpc>
                <a:spcPct val="100000"/>
              </a:lnSpc>
              <a:spcAft>
                <a:spcPts val="1300"/>
              </a:spcAft>
              <a:buClr>
                <a:srgbClr val="1F3A5F"/>
              </a:buClr>
              <a:buChar char="▸"/>
            </a:pPr>
            <a:r>
              <a:rPr sz="1500" b="0">
                <a:solidFill>
                  <a:srgbClr val="333A42"/>
                </a:solidFill>
                <a:latin typeface="Calibri"/>
              </a:rPr>
              <a:t>Stay with the student</a:t>
            </a:r>
          </a:p>
          <a:p>
            <a:pPr algn="l">
              <a:lnSpc>
                <a:spcPct val="100000"/>
              </a:lnSpc>
              <a:spcAft>
                <a:spcPts val="1300"/>
              </a:spcAft>
              <a:buClr>
                <a:srgbClr val="1F3A5F"/>
              </a:buClr>
              <a:buChar char="▸"/>
            </a:pPr>
            <a:r>
              <a:rPr sz="1500" b="0">
                <a:solidFill>
                  <a:srgbClr val="333A42"/>
                </a:solidFill>
                <a:latin typeface="Calibri"/>
              </a:rPr>
              <a:t>Write down what happened</a:t>
            </a:r>
          </a:p>
          <a:p>
            <a:pPr algn="l">
              <a:lnSpc>
                <a:spcPct val="100000"/>
              </a:lnSpc>
              <a:spcAft>
                <a:spcPts val="1300"/>
              </a:spcAft>
              <a:buClr>
                <a:srgbClr val="1F3A5F"/>
              </a:buClr>
              <a:buChar char="▸"/>
            </a:pPr>
            <a:r>
              <a:rPr sz="1500" b="0">
                <a:solidFill>
                  <a:srgbClr val="333A42"/>
                </a:solidFill>
                <a:latin typeface="Calibri"/>
              </a:rPr>
              <a:t>Follow up with parents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3024" y="1600200"/>
            <a:ext cx="3611880" cy="64008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93024" y="1700784"/>
            <a:ext cx="3611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REMEMBER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93024" y="2240280"/>
            <a:ext cx="3611880" cy="3657600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21624" y="2423160"/>
            <a:ext cx="31546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1300"/>
              </a:spcAft>
              <a:buClr>
                <a:srgbClr val="2A9D8F"/>
              </a:buClr>
              <a:buChar char="▸"/>
            </a:pPr>
            <a:r>
              <a:rPr sz="1500" b="0">
                <a:solidFill>
                  <a:srgbClr val="333A42"/>
                </a:solidFill>
                <a:latin typeface="Calibri"/>
              </a:rPr>
              <a:t>You're never alone in this</a:t>
            </a:r>
          </a:p>
          <a:p>
            <a:pPr algn="l">
              <a:lnSpc>
                <a:spcPct val="100000"/>
              </a:lnSpc>
              <a:spcAft>
                <a:spcPts val="1300"/>
              </a:spcAft>
              <a:buClr>
                <a:srgbClr val="2A9D8F"/>
              </a:buClr>
              <a:buChar char="▸"/>
            </a:pPr>
            <a:r>
              <a:rPr sz="1500" b="0">
                <a:solidFill>
                  <a:srgbClr val="333A42"/>
                </a:solidFill>
                <a:latin typeface="Calibri"/>
              </a:rPr>
              <a:t>Gloves before blood</a:t>
            </a:r>
          </a:p>
          <a:p>
            <a:pPr algn="l">
              <a:lnSpc>
                <a:spcPct val="100000"/>
              </a:lnSpc>
              <a:spcAft>
                <a:spcPts val="1300"/>
              </a:spcAft>
              <a:buClr>
                <a:srgbClr val="2A9D8F"/>
              </a:buClr>
              <a:buChar char="▸"/>
            </a:pPr>
            <a:r>
              <a:rPr sz="1500" b="0">
                <a:solidFill>
                  <a:srgbClr val="333A42"/>
                </a:solidFill>
                <a:latin typeface="Calibri"/>
              </a:rPr>
              <a:t>Counselors don't give meds</a:t>
            </a:r>
          </a:p>
          <a:p>
            <a:pPr algn="l">
              <a:lnSpc>
                <a:spcPct val="100000"/>
              </a:lnSpc>
              <a:spcAft>
                <a:spcPts val="1300"/>
              </a:spcAft>
              <a:buClr>
                <a:srgbClr val="2A9D8F"/>
              </a:buClr>
              <a:buChar char="▸"/>
            </a:pPr>
            <a:r>
              <a:rPr sz="1500" b="0">
                <a:solidFill>
                  <a:srgbClr val="333A42"/>
                </a:solidFill>
                <a:latin typeface="Calibri"/>
              </a:rPr>
              <a:t>Document everything</a:t>
            </a:r>
          </a:p>
          <a:p>
            <a:pPr algn="l">
              <a:lnSpc>
                <a:spcPct val="100000"/>
              </a:lnSpc>
              <a:spcAft>
                <a:spcPts val="1300"/>
              </a:spcAft>
              <a:buClr>
                <a:srgbClr val="2A9D8F"/>
              </a:buClr>
              <a:buChar char="▸"/>
            </a:pPr>
            <a:r>
              <a:rPr sz="1500" b="0">
                <a:solidFill>
                  <a:srgbClr val="333A42"/>
                </a:solidFill>
                <a:latin typeface="Calibri"/>
              </a:rPr>
              <a:t>When in doubt — escalate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6E"/>
                </a:solidFill>
                <a:latin typeface="Calibri"/>
              </a:rPr>
              <a:t>Summer 2026 Camp Health &amp; Safety  •  Counselor Training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6E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91695" cy="7315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600" b="1" i="0">
                <a:solidFill>
                  <a:srgbClr val="FFFFFF"/>
                </a:solidFill>
                <a:latin typeface="Calibri"/>
              </a:rPr>
              <a:t>You're ready.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600" b="1" i="0">
                <a:solidFill>
                  <a:srgbClr val="FFFFFF"/>
                </a:solidFill>
                <a:latin typeface="Calibri"/>
              </a:rPr>
              <a:t>Now go be the calm 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43200"/>
            <a:ext cx="105156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1" i="0">
                <a:solidFill>
                  <a:srgbClr val="2A9D8F"/>
                </a:solidFill>
                <a:latin typeface="Calibri"/>
              </a:rPr>
              <a:t>Three things to take with you: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900" b="0" i="0">
                <a:solidFill>
                  <a:srgbClr val="FFFFFF"/>
                </a:solidFill>
                <a:latin typeface="Calibri"/>
              </a:rPr>
              <a:t>1.  Take every symptom seriously.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900" b="0" i="0">
                <a:solidFill>
                  <a:srgbClr val="FFFFFF"/>
                </a:solidFill>
                <a:latin typeface="Calibri"/>
              </a:rPr>
              <a:t>2.  You are never expected to handle an emergency alone.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900" b="0" i="0">
                <a:solidFill>
                  <a:srgbClr val="FFFFFF"/>
                </a:solidFill>
                <a:latin typeface="Calibri"/>
              </a:rPr>
              <a:t>3.  When in doubt, call the Health Office. Every single time.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2120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0" i="1">
                <a:solidFill>
                  <a:srgbClr val="CBE3DF"/>
                </a:solidFill>
                <a:latin typeface="Calibri"/>
              </a:rPr>
              <a:t>Questions? Your School Nurse is here all summer.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Health Office: ____________   •   Emergency: 911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